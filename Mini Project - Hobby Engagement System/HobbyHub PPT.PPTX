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9"/>
  </p:notesMasterIdLst>
  <p:handoutMasterIdLst>
    <p:handoutMasterId r:id="rId20"/>
  </p:handoutMasterIdLst>
  <p:sldIdLst>
    <p:sldId id="280" r:id="rId2"/>
    <p:sldId id="366" r:id="rId3"/>
    <p:sldId id="380" r:id="rId4"/>
    <p:sldId id="383" r:id="rId5"/>
    <p:sldId id="384" r:id="rId6"/>
    <p:sldId id="385" r:id="rId7"/>
    <p:sldId id="386" r:id="rId8"/>
    <p:sldId id="387" r:id="rId9"/>
    <p:sldId id="388" r:id="rId10"/>
    <p:sldId id="391" r:id="rId11"/>
    <p:sldId id="396" r:id="rId12"/>
    <p:sldId id="397" r:id="rId13"/>
    <p:sldId id="392" r:id="rId14"/>
    <p:sldId id="393" r:id="rId15"/>
    <p:sldId id="394" r:id="rId16"/>
    <p:sldId id="395" r:id="rId17"/>
    <p:sldId id="281"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0524"/>
    <a:srgbClr val="008000"/>
    <a:srgbClr val="385D8A"/>
    <a:srgbClr val="34495E"/>
    <a:srgbClr val="FDFDFD"/>
    <a:srgbClr val="EAEAEA"/>
    <a:srgbClr val="F8F8F8"/>
    <a:srgbClr val="FF6702"/>
    <a:srgbClr val="D6B580"/>
    <a:srgbClr val="F8ED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88" autoAdjust="0"/>
    <p:restoredTop sz="94364" autoAdjust="0"/>
  </p:normalViewPr>
  <p:slideViewPr>
    <p:cSldViewPr>
      <p:cViewPr>
        <p:scale>
          <a:sx n="77" d="100"/>
          <a:sy n="77" d="100"/>
        </p:scale>
        <p:origin x="1733"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67" d="100"/>
          <a:sy n="67" d="100"/>
        </p:scale>
        <p:origin x="2748" y="60"/>
      </p:cViewPr>
      <p:guideLst/>
    </p:cSldViewPr>
  </p:notes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0F5FD1-1E71-41C1-A531-EDAAD398F8D7}" type="datetimeFigureOut">
              <a:rPr lang="en-US" smtClean="0"/>
              <a:t>11/22/2024</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418C08-2D65-44A0-8D9B-1CEE7EB87A37}" type="slidenum">
              <a:rPr lang="en-US" smtClean="0"/>
              <a:t>‹#›</a:t>
            </a:fld>
            <a:endParaRPr lang="en-US"/>
          </a:p>
        </p:txBody>
      </p:sp>
    </p:spTree>
    <p:extLst>
      <p:ext uri="{BB962C8B-B14F-4D97-AF65-F5344CB8AC3E}">
        <p14:creationId xmlns:p14="http://schemas.microsoft.com/office/powerpoint/2010/main" val="10136621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DAEC9C6-1CE4-4880-838A-FB85AC35DCB4}" type="datetimeFigureOut">
              <a:rPr lang="en-US" smtClean="0"/>
              <a:pPr/>
              <a:t>11/22/2024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F7A3D7D-4DD0-4519-9573-665089B66871}" type="slidenum">
              <a:rPr lang="en-US" smtClean="0"/>
              <a:pPr/>
              <a:t>‹#›</a:t>
            </a:fld>
            <a:endParaRPr lang="en-US"/>
          </a:p>
        </p:txBody>
      </p:sp>
    </p:spTree>
    <p:extLst>
      <p:ext uri="{BB962C8B-B14F-4D97-AF65-F5344CB8AC3E}">
        <p14:creationId xmlns:p14="http://schemas.microsoft.com/office/powerpoint/2010/main" val="1674936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2</a:t>
            </a:fld>
            <a:endParaRPr lang="en-US"/>
          </a:p>
        </p:txBody>
      </p:sp>
    </p:spTree>
    <p:extLst>
      <p:ext uri="{BB962C8B-B14F-4D97-AF65-F5344CB8AC3E}">
        <p14:creationId xmlns:p14="http://schemas.microsoft.com/office/powerpoint/2010/main" val="5386249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3</a:t>
            </a:fld>
            <a:endParaRPr lang="en-US"/>
          </a:p>
        </p:txBody>
      </p:sp>
    </p:spTree>
    <p:extLst>
      <p:ext uri="{BB962C8B-B14F-4D97-AF65-F5344CB8AC3E}">
        <p14:creationId xmlns:p14="http://schemas.microsoft.com/office/powerpoint/2010/main" val="783653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4</a:t>
            </a:fld>
            <a:endParaRPr lang="en-US"/>
          </a:p>
        </p:txBody>
      </p:sp>
    </p:spTree>
    <p:extLst>
      <p:ext uri="{BB962C8B-B14F-4D97-AF65-F5344CB8AC3E}">
        <p14:creationId xmlns:p14="http://schemas.microsoft.com/office/powerpoint/2010/main" val="35136850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5</a:t>
            </a:fld>
            <a:endParaRPr lang="en-US"/>
          </a:p>
        </p:txBody>
      </p:sp>
    </p:spTree>
    <p:extLst>
      <p:ext uri="{BB962C8B-B14F-4D97-AF65-F5344CB8AC3E}">
        <p14:creationId xmlns:p14="http://schemas.microsoft.com/office/powerpoint/2010/main" val="18451487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6</a:t>
            </a:fld>
            <a:endParaRPr lang="en-US"/>
          </a:p>
        </p:txBody>
      </p:sp>
    </p:spTree>
    <p:extLst>
      <p:ext uri="{BB962C8B-B14F-4D97-AF65-F5344CB8AC3E}">
        <p14:creationId xmlns:p14="http://schemas.microsoft.com/office/powerpoint/2010/main" val="24572639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7</a:t>
            </a:fld>
            <a:endParaRPr lang="en-US"/>
          </a:p>
        </p:txBody>
      </p:sp>
    </p:spTree>
    <p:extLst>
      <p:ext uri="{BB962C8B-B14F-4D97-AF65-F5344CB8AC3E}">
        <p14:creationId xmlns:p14="http://schemas.microsoft.com/office/powerpoint/2010/main" val="15273736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8</a:t>
            </a:fld>
            <a:endParaRPr lang="en-US"/>
          </a:p>
        </p:txBody>
      </p:sp>
    </p:spTree>
    <p:extLst>
      <p:ext uri="{BB962C8B-B14F-4D97-AF65-F5344CB8AC3E}">
        <p14:creationId xmlns:p14="http://schemas.microsoft.com/office/powerpoint/2010/main" val="33176278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9</a:t>
            </a:fld>
            <a:endParaRPr lang="en-US"/>
          </a:p>
        </p:txBody>
      </p:sp>
    </p:spTree>
    <p:extLst>
      <p:ext uri="{BB962C8B-B14F-4D97-AF65-F5344CB8AC3E}">
        <p14:creationId xmlns:p14="http://schemas.microsoft.com/office/powerpoint/2010/main" val="33227195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10</a:t>
            </a:fld>
            <a:endParaRPr lang="en-US"/>
          </a:p>
        </p:txBody>
      </p:sp>
    </p:spTree>
    <p:extLst>
      <p:ext uri="{BB962C8B-B14F-4D97-AF65-F5344CB8AC3E}">
        <p14:creationId xmlns:p14="http://schemas.microsoft.com/office/powerpoint/2010/main" val="8580241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F3CFA-9A55-5C47-0C26-58A2A4AE8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71DDB8-E21F-2812-2E93-B06AF54800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1AC76F-4C81-604F-E966-EE416C8D9DE3}"/>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558C91A9-A1EF-DAE5-FDE1-4AE25D3A33C8}"/>
              </a:ext>
            </a:extLst>
          </p:cNvPr>
          <p:cNvSpPr>
            <a:spLocks noGrp="1"/>
          </p:cNvSpPr>
          <p:nvPr>
            <p:ph type="sldNum" sz="quarter" idx="10"/>
          </p:nvPr>
        </p:nvSpPr>
        <p:spPr/>
        <p:txBody>
          <a:bodyPr/>
          <a:lstStyle/>
          <a:p>
            <a:fld id="{3F7A3D7D-4DD0-4519-9573-665089B66871}" type="slidenum">
              <a:rPr lang="en-US" smtClean="0"/>
              <a:pPr/>
              <a:t>11</a:t>
            </a:fld>
            <a:endParaRPr lang="en-US"/>
          </a:p>
        </p:txBody>
      </p:sp>
    </p:spTree>
    <p:extLst>
      <p:ext uri="{BB962C8B-B14F-4D97-AF65-F5344CB8AC3E}">
        <p14:creationId xmlns:p14="http://schemas.microsoft.com/office/powerpoint/2010/main" val="3990636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B418F-F2EC-E4F1-1A9A-15CA79D2C6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96E43C-D3A1-5423-7469-976E065CC4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D762D8-1455-B901-38E8-9A86FE2444C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C09E2739-3152-BB21-C78A-3F670973BAEE}"/>
              </a:ext>
            </a:extLst>
          </p:cNvPr>
          <p:cNvSpPr>
            <a:spLocks noGrp="1"/>
          </p:cNvSpPr>
          <p:nvPr>
            <p:ph type="sldNum" sz="quarter" idx="10"/>
          </p:nvPr>
        </p:nvSpPr>
        <p:spPr/>
        <p:txBody>
          <a:bodyPr/>
          <a:lstStyle/>
          <a:p>
            <a:fld id="{3F7A3D7D-4DD0-4519-9573-665089B66871}" type="slidenum">
              <a:rPr lang="en-US" smtClean="0"/>
              <a:pPr/>
              <a:t>12</a:t>
            </a:fld>
            <a:endParaRPr lang="en-US"/>
          </a:p>
        </p:txBody>
      </p:sp>
    </p:spTree>
    <p:extLst>
      <p:ext uri="{BB962C8B-B14F-4D97-AF65-F5344CB8AC3E}">
        <p14:creationId xmlns:p14="http://schemas.microsoft.com/office/powerpoint/2010/main" val="1891947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13</a:t>
            </a:fld>
            <a:endParaRPr lang="en-US"/>
          </a:p>
        </p:txBody>
      </p:sp>
    </p:spTree>
    <p:extLst>
      <p:ext uri="{BB962C8B-B14F-4D97-AF65-F5344CB8AC3E}">
        <p14:creationId xmlns:p14="http://schemas.microsoft.com/office/powerpoint/2010/main" val="13509326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14</a:t>
            </a:fld>
            <a:endParaRPr lang="en-US"/>
          </a:p>
        </p:txBody>
      </p:sp>
    </p:spTree>
    <p:extLst>
      <p:ext uri="{BB962C8B-B14F-4D97-AF65-F5344CB8AC3E}">
        <p14:creationId xmlns:p14="http://schemas.microsoft.com/office/powerpoint/2010/main" val="8952566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15</a:t>
            </a:fld>
            <a:endParaRPr lang="en-US"/>
          </a:p>
        </p:txBody>
      </p:sp>
    </p:spTree>
    <p:extLst>
      <p:ext uri="{BB962C8B-B14F-4D97-AF65-F5344CB8AC3E}">
        <p14:creationId xmlns:p14="http://schemas.microsoft.com/office/powerpoint/2010/main" val="23311093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3F7A3D7D-4DD0-4519-9573-665089B66871}" type="slidenum">
              <a:rPr lang="en-US" smtClean="0"/>
              <a:pPr/>
              <a:t>16</a:t>
            </a:fld>
            <a:endParaRPr lang="en-US"/>
          </a:p>
        </p:txBody>
      </p:sp>
    </p:spTree>
    <p:extLst>
      <p:ext uri="{BB962C8B-B14F-4D97-AF65-F5344CB8AC3E}">
        <p14:creationId xmlns:p14="http://schemas.microsoft.com/office/powerpoint/2010/main" val="2705310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3F7A3D7D-4DD0-4519-9573-665089B66871}" type="slidenum">
              <a:rPr lang="en-US" smtClean="0"/>
              <a:pPr/>
              <a:t>17</a:t>
            </a:fld>
            <a:endParaRPr lang="en-US" dirty="0"/>
          </a:p>
        </p:txBody>
      </p:sp>
    </p:spTree>
    <p:extLst>
      <p:ext uri="{BB962C8B-B14F-4D97-AF65-F5344CB8AC3E}">
        <p14:creationId xmlns:p14="http://schemas.microsoft.com/office/powerpoint/2010/main" val="32124533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latin typeface="Open Sans Extrabold" panose="020B0906030804020204" pitchFamily="34" charset="0"/>
                <a:ea typeface="Open Sans Extrabold" panose="020B0906030804020204" pitchFamily="34" charset="0"/>
                <a:cs typeface="Open Sans Extrabold" panose="020B0906030804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90500" y="106363"/>
            <a:ext cx="8763000" cy="808037"/>
          </a:xfrm>
        </p:spPr>
        <p:txBody>
          <a:bodyPr/>
          <a:lstStyle>
            <a:lvl1pPr algn="l">
              <a:defRPr>
                <a:latin typeface="+mj-lt"/>
                <a:ea typeface="Open Sans Semibold" panose="020B0706030804020204" pitchFamily="34" charset="0"/>
                <a:cs typeface="Open Sans Semibold" panose="020B0706030804020204" pitchFamily="34" charset="0"/>
              </a:defRPr>
            </a:lvl1pPr>
          </a:lstStyle>
          <a:p>
            <a:r>
              <a:rPr lang="en-US" dirty="0"/>
              <a:t>Click to edit Master title style</a:t>
            </a:r>
          </a:p>
        </p:txBody>
      </p:sp>
      <p:sp>
        <p:nvSpPr>
          <p:cNvPr id="3" name="Content Placeholder 2"/>
          <p:cNvSpPr>
            <a:spLocks noGrp="1"/>
          </p:cNvSpPr>
          <p:nvPr>
            <p:ph idx="1"/>
          </p:nvPr>
        </p:nvSpPr>
        <p:spPr>
          <a:xfrm>
            <a:off x="190500" y="990600"/>
            <a:ext cx="8763000" cy="5334000"/>
          </a:xfrm>
        </p:spPr>
        <p:txBody>
          <a:bodyPr>
            <a:normAutofit/>
          </a:bodyPr>
          <a:lstStyle>
            <a:lvl1pPr marL="342900" indent="-342900">
              <a:lnSpc>
                <a:spcPct val="114000"/>
              </a:lnSpc>
              <a:buClrTx/>
              <a:buFont typeface="Wingdings" panose="05000000000000000000" pitchFamily="2" charset="2"/>
              <a:buChar char="§"/>
              <a:defRPr sz="2400">
                <a:latin typeface="+mj-lt"/>
                <a:ea typeface="Times New Roman" panose="02020603050405020304" pitchFamily="18" charset="0"/>
                <a:cs typeface="Times New Roman" panose="02020603050405020304" pitchFamily="18" charset="0"/>
              </a:defRPr>
            </a:lvl1pPr>
            <a:lvl2pPr marL="742950" indent="-285750">
              <a:lnSpc>
                <a:spcPct val="114000"/>
              </a:lnSpc>
              <a:buClrTx/>
              <a:buFont typeface="Arial" panose="020B0604020202020204" pitchFamily="34" charset="0"/>
              <a:buChar char="•"/>
              <a:defRPr sz="2000">
                <a:latin typeface="+mj-lt"/>
                <a:ea typeface="Times New Roman" panose="02020603050405020304" pitchFamily="18" charset="0"/>
                <a:cs typeface="Times New Roman" panose="02020603050405020304" pitchFamily="18" charset="0"/>
              </a:defRPr>
            </a:lvl2pPr>
            <a:lvl3pPr>
              <a:lnSpc>
                <a:spcPct val="114000"/>
              </a:lnSpc>
              <a:buClrTx/>
              <a:defRPr sz="1800">
                <a:latin typeface="+mj-lt"/>
                <a:ea typeface="Times New Roman" panose="02020603050405020304" pitchFamily="18" charset="0"/>
                <a:cs typeface="Times New Roman" panose="02020603050405020304" pitchFamily="18" charset="0"/>
              </a:defRPr>
            </a:lvl3pPr>
            <a:lvl4pPr>
              <a:lnSpc>
                <a:spcPct val="114000"/>
              </a:lnSpc>
              <a:buClrTx/>
              <a:defRPr sz="1600">
                <a:latin typeface="+mj-lt"/>
                <a:ea typeface="Times New Roman" panose="02020603050405020304" pitchFamily="18" charset="0"/>
                <a:cs typeface="Times New Roman" panose="02020603050405020304" pitchFamily="18" charset="0"/>
              </a:defRPr>
            </a:lvl4pPr>
            <a:lvl5pPr>
              <a:lnSpc>
                <a:spcPct val="114000"/>
              </a:lnSpc>
              <a:buClrTx/>
              <a:defRPr sz="1600">
                <a:latin typeface="+mj-lt"/>
                <a:ea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ktangel 11"/>
          <p:cNvSpPr/>
          <p:nvPr userDrawn="1"/>
        </p:nvSpPr>
        <p:spPr>
          <a:xfrm>
            <a:off x="0" y="6477000"/>
            <a:ext cx="4572000" cy="381000"/>
          </a:xfrm>
          <a:prstGeom prst="rect">
            <a:avLst/>
          </a:prstGeom>
          <a:solidFill>
            <a:srgbClr val="34495E"/>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nchor="ctr"/>
          <a:lstStyle/>
          <a:p>
            <a:pPr indent="-342900" algn="ctr">
              <a:defRPr/>
            </a:pPr>
            <a:r>
              <a:rPr lang="en-US" sz="1600" noProof="1">
                <a:solidFill>
                  <a:srgbClr val="FFFFFF"/>
                </a:solidFill>
                <a:latin typeface="+mj-lt"/>
                <a:ea typeface="Open Sans" panose="020B0606030504020204" pitchFamily="34" charset="0"/>
                <a:cs typeface="Open Sans" panose="020B0606030504020204" pitchFamily="34" charset="0"/>
              </a:rPr>
              <a:t>Department of Computer</a:t>
            </a:r>
            <a:r>
              <a:rPr lang="en-US" sz="1600" baseline="0" noProof="1">
                <a:solidFill>
                  <a:srgbClr val="FFFFFF"/>
                </a:solidFill>
                <a:latin typeface="+mj-lt"/>
                <a:ea typeface="Open Sans" panose="020B0606030504020204" pitchFamily="34" charset="0"/>
                <a:cs typeface="Open Sans" panose="020B0606030504020204" pitchFamily="34" charset="0"/>
              </a:rPr>
              <a:t> Science and Engineering</a:t>
            </a:r>
            <a:endParaRPr lang="da-DK" sz="1600" noProof="1">
              <a:solidFill>
                <a:srgbClr val="FFFFFF"/>
              </a:solidFill>
              <a:latin typeface="+mj-lt"/>
              <a:ea typeface="Open Sans" panose="020B0606030504020204" pitchFamily="34" charset="0"/>
              <a:cs typeface="Open Sans" panose="020B0606030504020204" pitchFamily="34" charset="0"/>
            </a:endParaRPr>
          </a:p>
        </p:txBody>
      </p:sp>
      <p:cxnSp>
        <p:nvCxnSpPr>
          <p:cNvPr id="6" name="Straight Connector 5"/>
          <p:cNvCxnSpPr/>
          <p:nvPr userDrawn="1"/>
        </p:nvCxnSpPr>
        <p:spPr>
          <a:xfrm>
            <a:off x="190500" y="914400"/>
            <a:ext cx="876300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ktangel 11"/>
          <p:cNvSpPr/>
          <p:nvPr userDrawn="1"/>
        </p:nvSpPr>
        <p:spPr>
          <a:xfrm>
            <a:off x="4572000" y="6477490"/>
            <a:ext cx="4572000" cy="381000"/>
          </a:xfrm>
          <a:prstGeom prst="rect">
            <a:avLst/>
          </a:prstGeom>
          <a:solidFill>
            <a:srgbClr val="34495E"/>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nchor="ctr"/>
          <a:lstStyle/>
          <a:p>
            <a:pPr indent="-342900" algn="ctr">
              <a:defRPr/>
            </a:pPr>
            <a:r>
              <a:rPr lang="da-DK" sz="1600" noProof="1">
                <a:solidFill>
                  <a:srgbClr val="FFFFFF"/>
                </a:solidFill>
                <a:latin typeface="+mj-lt"/>
                <a:ea typeface="Open Sans" panose="020B0606030504020204" pitchFamily="34" charset="0"/>
                <a:cs typeface="Open Sans" panose="020B0606030504020204" pitchFamily="34" charset="0"/>
              </a:rPr>
              <a:t>Rajalakshmi Engineering College 		</a:t>
            </a:r>
            <a:fld id="{6E8469F3-9EE8-43CF-BEDC-475B89412D1D}" type="slidenum">
              <a:rPr lang="da-DK" sz="1600" kern="1200" noProof="1" smtClean="0">
                <a:solidFill>
                  <a:srgbClr val="FFFFFF"/>
                </a:solidFill>
                <a:latin typeface="+mn-lt"/>
                <a:ea typeface="Open Sans" panose="020B0606030504020204" pitchFamily="34" charset="0"/>
                <a:cs typeface="Open Sans" panose="020B0606030504020204" pitchFamily="34" charset="0"/>
              </a:rPr>
              <a:pPr/>
              <a:t>‹#›</a:t>
            </a:fld>
            <a:endParaRPr lang="da-DK" sz="1600" noProof="1">
              <a:solidFill>
                <a:srgbClr val="FFFFFF"/>
              </a:solidFill>
              <a:latin typeface="+mj-lt"/>
              <a:ea typeface="Open Sans" panose="020B0606030504020204" pitchFamily="34" charset="0"/>
              <a:cs typeface="Open Sans" panose="020B060603050402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A8BEFB-AE5B-48F9-BBAD-B489CDE48C80}"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A8BEFB-AE5B-48F9-BBAD-B489CDE48C80}"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9.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10.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1.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4.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776" t="63278" r="776" b="-30898"/>
          <a:stretch/>
        </p:blipFill>
        <p:spPr>
          <a:xfrm>
            <a:off x="-72010" y="-2532"/>
            <a:ext cx="9216010" cy="3231811"/>
          </a:xfrm>
          <a:prstGeom prst="rect">
            <a:avLst/>
          </a:prstGeom>
        </p:spPr>
      </p:pic>
      <p:grpSp>
        <p:nvGrpSpPr>
          <p:cNvPr id="20" name="Group 19"/>
          <p:cNvGrpSpPr/>
          <p:nvPr/>
        </p:nvGrpSpPr>
        <p:grpSpPr>
          <a:xfrm>
            <a:off x="-14748" y="986564"/>
            <a:ext cx="9158748" cy="5456757"/>
            <a:chOff x="-14748" y="986564"/>
            <a:chExt cx="9158748" cy="5456757"/>
          </a:xfrm>
        </p:grpSpPr>
        <p:sp>
          <p:nvSpPr>
            <p:cNvPr id="22" name="TextBox 21"/>
            <p:cNvSpPr txBox="1"/>
            <p:nvPr/>
          </p:nvSpPr>
          <p:spPr>
            <a:xfrm>
              <a:off x="177781" y="4812105"/>
              <a:ext cx="6590463" cy="1631216"/>
            </a:xfrm>
            <a:prstGeom prst="rect">
              <a:avLst/>
            </a:prstGeom>
            <a:noFill/>
          </p:spPr>
          <p:txBody>
            <a:bodyPr wrap="square" rtlCol="0">
              <a:spAutoFit/>
            </a:bodyPr>
            <a:lstStyle/>
            <a:p>
              <a:r>
                <a:rPr lang="en-US" sz="2000" b="1" dirty="0"/>
                <a:t>Your Register No: 220701233</a:t>
              </a:r>
            </a:p>
            <a:p>
              <a:r>
                <a:rPr lang="en-US" sz="2000" b="1" dirty="0"/>
                <a:t>Name: </a:t>
              </a:r>
              <a:r>
                <a:rPr lang="en-US" sz="2000" b="1" dirty="0" err="1"/>
                <a:t>Rupala</a:t>
              </a:r>
              <a:r>
                <a:rPr lang="en-US" sz="2000" b="1" dirty="0"/>
                <a:t> N</a:t>
              </a:r>
            </a:p>
            <a:p>
              <a:r>
                <a:rPr lang="en-US" sz="2000" b="1" dirty="0"/>
                <a:t>Guide Name: Dr. N. </a:t>
              </a:r>
              <a:r>
                <a:rPr lang="en-US" sz="2000" b="1" dirty="0" err="1"/>
                <a:t>Durai</a:t>
              </a:r>
              <a:r>
                <a:rPr lang="en-US" sz="2000" b="1" dirty="0"/>
                <a:t> Murugan</a:t>
              </a:r>
            </a:p>
            <a:p>
              <a:r>
                <a:rPr lang="en-US" sz="2000" b="1" dirty="0"/>
                <a:t>Designation and Department: Assistant Professor, Department of Computer Science and Engineering</a:t>
              </a:r>
            </a:p>
          </p:txBody>
        </p:sp>
        <p:grpSp>
          <p:nvGrpSpPr>
            <p:cNvPr id="43" name="Group 42"/>
            <p:cNvGrpSpPr/>
            <p:nvPr/>
          </p:nvGrpSpPr>
          <p:grpSpPr>
            <a:xfrm>
              <a:off x="-14748" y="986564"/>
              <a:ext cx="9158748" cy="3699662"/>
              <a:chOff x="-14748" y="986564"/>
              <a:chExt cx="9158748" cy="3699662"/>
            </a:xfrm>
          </p:grpSpPr>
          <p:sp>
            <p:nvSpPr>
              <p:cNvPr id="45" name="Freeform 44"/>
              <p:cNvSpPr/>
              <p:nvPr/>
            </p:nvSpPr>
            <p:spPr>
              <a:xfrm>
                <a:off x="5003203" y="1761199"/>
                <a:ext cx="4140797" cy="2622445"/>
              </a:xfrm>
              <a:custGeom>
                <a:avLst/>
                <a:gdLst>
                  <a:gd name="connsiteX0" fmla="*/ 1 w 4140797"/>
                  <a:gd name="connsiteY0" fmla="*/ 0 h 2622445"/>
                  <a:gd name="connsiteX1" fmla="*/ 4140797 w 4140797"/>
                  <a:gd name="connsiteY1" fmla="*/ 0 h 2622445"/>
                  <a:gd name="connsiteX2" fmla="*/ 4140797 w 4140797"/>
                  <a:gd name="connsiteY2" fmla="*/ 2622445 h 2622445"/>
                  <a:gd name="connsiteX3" fmla="*/ 0 w 4140797"/>
                  <a:gd name="connsiteY3" fmla="*/ 2622445 h 2622445"/>
                  <a:gd name="connsiteX4" fmla="*/ 1311223 w 4140797"/>
                  <a:gd name="connsiteY4" fmla="*/ 1311222 h 2622445"/>
                  <a:gd name="connsiteX5" fmla="*/ 1 w 4140797"/>
                  <a:gd name="connsiteY5" fmla="*/ 0 h 26224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40797" h="2622445">
                    <a:moveTo>
                      <a:pt x="1" y="0"/>
                    </a:moveTo>
                    <a:lnTo>
                      <a:pt x="4140797" y="0"/>
                    </a:lnTo>
                    <a:lnTo>
                      <a:pt x="4140797" y="2622445"/>
                    </a:lnTo>
                    <a:lnTo>
                      <a:pt x="0" y="2622445"/>
                    </a:lnTo>
                    <a:lnTo>
                      <a:pt x="1311223" y="1311222"/>
                    </a:lnTo>
                    <a:lnTo>
                      <a:pt x="1" y="0"/>
                    </a:lnTo>
                    <a:close/>
                  </a:path>
                </a:pathLst>
              </a:custGeom>
              <a:solidFill>
                <a:srgbClr val="00AAA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Pentagon 45"/>
              <p:cNvSpPr/>
              <p:nvPr/>
            </p:nvSpPr>
            <p:spPr>
              <a:xfrm>
                <a:off x="0" y="1529371"/>
                <a:ext cx="5743977" cy="3086100"/>
              </a:xfrm>
              <a:prstGeom prst="homePlate">
                <a:avLst/>
              </a:prstGeom>
              <a:solidFill>
                <a:srgbClr val="59595B"/>
              </a:solidFill>
              <a:ln>
                <a:solidFill>
                  <a:srgbClr val="59595B"/>
                </a:solidFill>
              </a:ln>
              <a:effectLst>
                <a:outerShdw blurRad="50800" dist="38100" algn="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47" name="Group 46"/>
              <p:cNvGrpSpPr/>
              <p:nvPr/>
            </p:nvGrpSpPr>
            <p:grpSpPr>
              <a:xfrm>
                <a:off x="-14748" y="986564"/>
                <a:ext cx="4014973" cy="1075928"/>
                <a:chOff x="-19391" y="1011603"/>
                <a:chExt cx="5278947" cy="1075928"/>
              </a:xfrm>
            </p:grpSpPr>
            <p:sp>
              <p:nvSpPr>
                <p:cNvPr id="51" name="Pentagon 50"/>
                <p:cNvSpPr/>
                <p:nvPr/>
              </p:nvSpPr>
              <p:spPr>
                <a:xfrm>
                  <a:off x="-19391" y="1011603"/>
                  <a:ext cx="5278947" cy="1075928"/>
                </a:xfrm>
                <a:prstGeom prst="homePlate">
                  <a:avLst/>
                </a:prstGeom>
                <a:solidFill>
                  <a:srgbClr val="00AAAD"/>
                </a:solidFill>
                <a:ln>
                  <a:noFill/>
                </a:ln>
                <a:effectLst>
                  <a:outerShdw blurRad="50800" dist="38100" algn="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52" name="TextBox 51"/>
                <p:cNvSpPr txBox="1"/>
                <p:nvPr/>
              </p:nvSpPr>
              <p:spPr>
                <a:xfrm>
                  <a:off x="237041" y="1195624"/>
                  <a:ext cx="4181886" cy="707886"/>
                </a:xfrm>
                <a:prstGeom prst="rect">
                  <a:avLst/>
                </a:prstGeom>
                <a:noFill/>
              </p:spPr>
              <p:txBody>
                <a:bodyPr wrap="square" rtlCol="0" anchor="ctr">
                  <a:spAutoFit/>
                </a:bodyPr>
                <a:lstStyle/>
                <a:p>
                  <a:pPr algn="ctr"/>
                  <a:r>
                    <a:rPr lang="en-US" sz="2000" b="1" dirty="0">
                      <a:solidFill>
                        <a:schemeClr val="bg1"/>
                      </a:solidFill>
                      <a:ea typeface="Open Sans Light" panose="020B0306030504020204" pitchFamily="34" charset="0"/>
                      <a:cs typeface="Open Sans Light" panose="020B0306030504020204" pitchFamily="34" charset="0"/>
                    </a:rPr>
                    <a:t>Introduction to </a:t>
                  </a:r>
                </a:p>
                <a:p>
                  <a:pPr algn="ctr"/>
                  <a:r>
                    <a:rPr lang="en-US" sz="2000" b="1" dirty="0">
                      <a:solidFill>
                        <a:schemeClr val="bg1"/>
                      </a:solidFill>
                      <a:ea typeface="Open Sans Light" panose="020B0306030504020204" pitchFamily="34" charset="0"/>
                      <a:cs typeface="Open Sans Light" panose="020B0306030504020204" pitchFamily="34" charset="0"/>
                    </a:rPr>
                    <a:t>Robotic Process Automation </a:t>
                  </a:r>
                </a:p>
              </p:txBody>
            </p:sp>
          </p:grpSp>
          <p:sp>
            <p:nvSpPr>
              <p:cNvPr id="48" name="TextBox 47"/>
              <p:cNvSpPr txBox="1"/>
              <p:nvPr/>
            </p:nvSpPr>
            <p:spPr>
              <a:xfrm>
                <a:off x="177782" y="2100903"/>
                <a:ext cx="4188156" cy="2585323"/>
              </a:xfrm>
              <a:prstGeom prst="rect">
                <a:avLst/>
              </a:prstGeom>
              <a:noFill/>
            </p:spPr>
            <p:txBody>
              <a:bodyPr wrap="square" rtlCol="0">
                <a:spAutoFit/>
              </a:bodyPr>
              <a:lstStyle/>
              <a:p>
                <a:r>
                  <a:rPr lang="en-US" sz="5400" b="1" dirty="0">
                    <a:solidFill>
                      <a:schemeClr val="bg1"/>
                    </a:solidFill>
                    <a:ea typeface="Open Sans Bold" panose="020B0806030504020204" pitchFamily="34" charset="0"/>
                    <a:cs typeface="Open Sans Bold" panose="020B0806030504020204" pitchFamily="34" charset="0"/>
                  </a:rPr>
                  <a:t>Hobby Engagement Bot</a:t>
                </a:r>
              </a:p>
            </p:txBody>
          </p:sp>
          <p:sp>
            <p:nvSpPr>
              <p:cNvPr id="50" name="Freeform 49"/>
              <p:cNvSpPr/>
              <p:nvPr/>
            </p:nvSpPr>
            <p:spPr>
              <a:xfrm>
                <a:off x="4652237" y="1529372"/>
                <a:ext cx="1672363" cy="3086099"/>
              </a:xfrm>
              <a:custGeom>
                <a:avLst/>
                <a:gdLst>
                  <a:gd name="connsiteX0" fmla="*/ 0 w 1672363"/>
                  <a:gd name="connsiteY0" fmla="*/ 0 h 3086099"/>
                  <a:gd name="connsiteX1" fmla="*/ 129314 w 1672363"/>
                  <a:gd name="connsiteY1" fmla="*/ 0 h 3086099"/>
                  <a:gd name="connsiteX2" fmla="*/ 1672363 w 1672363"/>
                  <a:gd name="connsiteY2" fmla="*/ 1543050 h 3086099"/>
                  <a:gd name="connsiteX3" fmla="*/ 129314 w 1672363"/>
                  <a:gd name="connsiteY3" fmla="*/ 3086099 h 3086099"/>
                  <a:gd name="connsiteX4" fmla="*/ 0 w 1672363"/>
                  <a:gd name="connsiteY4" fmla="*/ 3086099 h 3086099"/>
                  <a:gd name="connsiteX5" fmla="*/ 1543049 w 1672363"/>
                  <a:gd name="connsiteY5" fmla="*/ 1543050 h 3086099"/>
                  <a:gd name="connsiteX6" fmla="*/ 0 w 1672363"/>
                  <a:gd name="connsiteY6" fmla="*/ 0 h 3086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72363" h="3086099">
                    <a:moveTo>
                      <a:pt x="0" y="0"/>
                    </a:moveTo>
                    <a:lnTo>
                      <a:pt x="129314" y="0"/>
                    </a:lnTo>
                    <a:lnTo>
                      <a:pt x="1672363" y="1543050"/>
                    </a:lnTo>
                    <a:lnTo>
                      <a:pt x="129314" y="3086099"/>
                    </a:lnTo>
                    <a:lnTo>
                      <a:pt x="0" y="3086099"/>
                    </a:lnTo>
                    <a:lnTo>
                      <a:pt x="1543049" y="1543050"/>
                    </a:lnTo>
                    <a:lnTo>
                      <a:pt x="0" y="0"/>
                    </a:lnTo>
                    <a:close/>
                  </a:path>
                </a:pathLst>
              </a:custGeom>
              <a:solidFill>
                <a:srgbClr val="A1A6A9"/>
              </a:solidFill>
              <a:ln>
                <a:noFill/>
              </a:ln>
              <a:effectLst>
                <a:outerShdw blurRad="50800" dist="38100" algn="l"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gr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28284" y="4441459"/>
            <a:ext cx="1813542" cy="1541511"/>
          </a:xfrm>
          <a:prstGeom prst="rect">
            <a:avLst/>
          </a:prstGeom>
        </p:spPr>
      </p:pic>
    </p:spTree>
    <p:extLst>
      <p:ext uri="{BB962C8B-B14F-4D97-AF65-F5344CB8AC3E}">
        <p14:creationId xmlns:p14="http://schemas.microsoft.com/office/powerpoint/2010/main" val="929866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dirty="0"/>
              <a:t>Abstract</a:t>
            </a:r>
            <a:endParaRPr lang="en-IN" dirty="0">
              <a:latin typeface="+mj-lt"/>
            </a:endParaRPr>
          </a:p>
        </p:txBody>
      </p:sp>
      <p:sp>
        <p:nvSpPr>
          <p:cNvPr id="3" name="Content Placeholder 2"/>
          <p:cNvSpPr>
            <a:spLocks noGrp="1"/>
          </p:cNvSpPr>
          <p:nvPr>
            <p:ph idx="1"/>
          </p:nvPr>
        </p:nvSpPr>
        <p:spPr/>
        <p:txBody>
          <a:bodyPr>
            <a:normAutofit fontScale="92500" lnSpcReduction="10000"/>
          </a:bodyPr>
          <a:lstStyle/>
          <a:p>
            <a:r>
              <a:rPr lang="en-US" dirty="0"/>
              <a:t>The proposed project leverages UiPath's automation capabilities to create a personalized content delivery system tailored to user hobbies, specifically focusing on Reddit as the primary data source. This innovative solution automates the extraction of hobby-related information from Reddit and delivers it to users via email. By utilizing UiPath activities such as Data Scraping, For Each Row in Data Table, and Send SMTP Mail Message, the workflow processes user data efficiently, ensuring a seamless experience. The project begins by reading user information from an Excel file, including their hobbies and email addresses. For each user, the workflow dynamically searches Reddit for relevant discussions and extracts key insights related to their hobbies. The extracted data is formatted into a structured and personalized email, making it both informative and engaging. While the current implementation focuses solely on Reddit, the solution is designed with scalability in mind. .</a:t>
            </a:r>
          </a:p>
        </p:txBody>
      </p:sp>
    </p:spTree>
    <p:custDataLst>
      <p:tags r:id="rId1"/>
    </p:custDataLst>
    <p:extLst>
      <p:ext uri="{BB962C8B-B14F-4D97-AF65-F5344CB8AC3E}">
        <p14:creationId xmlns:p14="http://schemas.microsoft.com/office/powerpoint/2010/main" val="25404079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Need for the Proposed System</a:t>
            </a:r>
            <a:endParaRPr lang="en-IN" dirty="0">
              <a:latin typeface="+mj-lt"/>
            </a:endParaRPr>
          </a:p>
        </p:txBody>
      </p:sp>
      <p:sp>
        <p:nvSpPr>
          <p:cNvPr id="3" name="Content Placeholder 2"/>
          <p:cNvSpPr>
            <a:spLocks noGrp="1"/>
          </p:cNvSpPr>
          <p:nvPr>
            <p:ph idx="1"/>
          </p:nvPr>
        </p:nvSpPr>
        <p:spPr/>
        <p:txBody>
          <a:bodyPr/>
          <a:lstStyle/>
          <a:p>
            <a:r>
              <a:rPr lang="en-US" dirty="0"/>
              <a:t>In the age of digital transformation, automation is playing a pivotal role in reshaping how individuals and businesses interact with information. </a:t>
            </a:r>
          </a:p>
          <a:p>
            <a:r>
              <a:rPr lang="en-US" dirty="0"/>
              <a:t>One area where automation can be particularly impactful is in personalized content aggregation. People often spend hours searching for relevant information online about their hobbies, interests, or passions.</a:t>
            </a:r>
          </a:p>
          <a:p>
            <a:r>
              <a:rPr lang="en-US" dirty="0"/>
              <a:t> This project aims to address this challenge by leveraging UiPath’s capabilities to develop a solution that automates the discovery and delivery of hobby-specific content, focusing on Reddit as the initial data source.</a:t>
            </a:r>
          </a:p>
        </p:txBody>
      </p:sp>
    </p:spTree>
    <p:custDataLst>
      <p:tags r:id="rId1"/>
    </p:custDataLst>
    <p:extLst>
      <p:ext uri="{BB962C8B-B14F-4D97-AF65-F5344CB8AC3E}">
        <p14:creationId xmlns:p14="http://schemas.microsoft.com/office/powerpoint/2010/main" val="3548485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Advantages of the Proposed System</a:t>
            </a:r>
            <a:endParaRPr lang="en-IN" dirty="0">
              <a:latin typeface="+mj-lt"/>
            </a:endParaRPr>
          </a:p>
        </p:txBody>
      </p:sp>
      <p:sp>
        <p:nvSpPr>
          <p:cNvPr id="3" name="Content Placeholder 2"/>
          <p:cNvSpPr>
            <a:spLocks noGrp="1"/>
          </p:cNvSpPr>
          <p:nvPr>
            <p:ph idx="1"/>
          </p:nvPr>
        </p:nvSpPr>
        <p:spPr/>
        <p:txBody>
          <a:bodyPr>
            <a:normAutofit fontScale="92500"/>
          </a:bodyPr>
          <a:lstStyle/>
          <a:p>
            <a:r>
              <a:rPr lang="en-US" dirty="0"/>
              <a:t>The proposed system introduces an automated solution using UiPath to streamline content aggregation and delivery for hobby enthusiasts. </a:t>
            </a:r>
          </a:p>
          <a:p>
            <a:r>
              <a:rPr lang="en-US" dirty="0"/>
              <a:t>By leveraging Reddit as the primary platform, the bot dynamically processes user inputs, such as hobbies, from an Excel sheet and scrapes relevant data from corresponding Reddit threads. </a:t>
            </a:r>
          </a:p>
          <a:p>
            <a:r>
              <a:rPr lang="en-US" dirty="0"/>
              <a:t>This includes trending posts, discussions, or updates tailored to each user's interests. The scraped data is formatted into a concise, user-friendly summary and sent via email. </a:t>
            </a:r>
          </a:p>
          <a:p>
            <a:r>
              <a:rPr lang="en-US" dirty="0"/>
              <a:t>Additionally, the proposed system lays the foundation for future enhancements, such as integrating more platforms like Amazon or dedicated forums, incorporating sentiment analysis to prioritize impactful content, and expanding notification channels beyond email. </a:t>
            </a:r>
          </a:p>
        </p:txBody>
      </p:sp>
    </p:spTree>
    <p:custDataLst>
      <p:tags r:id="rId1"/>
    </p:custDataLst>
    <p:extLst>
      <p:ext uri="{BB962C8B-B14F-4D97-AF65-F5344CB8AC3E}">
        <p14:creationId xmlns:p14="http://schemas.microsoft.com/office/powerpoint/2010/main" val="13323072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Literature Survey</a:t>
            </a:r>
            <a:endParaRPr lang="en-IN" dirty="0">
              <a:latin typeface="+mj-lt"/>
            </a:endParaRPr>
          </a:p>
        </p:txBody>
      </p:sp>
      <p:sp>
        <p:nvSpPr>
          <p:cNvPr id="3" name="Content Placeholder 2"/>
          <p:cNvSpPr>
            <a:spLocks noGrp="1"/>
          </p:cNvSpPr>
          <p:nvPr>
            <p:ph idx="1"/>
          </p:nvPr>
        </p:nvSpPr>
        <p:spPr/>
        <p:txBody>
          <a:bodyPr/>
          <a:lstStyle/>
          <a:p>
            <a:r>
              <a:rPr lang="en-US" dirty="0"/>
              <a:t>RPA has emerged as a transformative technology for automating repetitive tasks, including data collection, extraction, and processing. Studies by </a:t>
            </a:r>
            <a:r>
              <a:rPr lang="en-US" b="1" dirty="0"/>
              <a:t>Willcocks et al. (2015) </a:t>
            </a:r>
            <a:r>
              <a:rPr lang="en-US" dirty="0"/>
              <a:t>highlight RPA's ability to emulate human interactions with digital systems, thereby increasing efficiency and reducing errors in data-driven workflows.</a:t>
            </a:r>
          </a:p>
          <a:p>
            <a:r>
              <a:rPr lang="en-US" dirty="0"/>
              <a:t>Web scraping is a widely used technique to extract structured information from unstructured web data. Research by </a:t>
            </a:r>
            <a:r>
              <a:rPr lang="en-US" b="1" dirty="0" err="1"/>
              <a:t>Aghajarian</a:t>
            </a:r>
            <a:r>
              <a:rPr lang="en-US" b="1" dirty="0"/>
              <a:t> et al. (2018) </a:t>
            </a:r>
            <a:r>
              <a:rPr lang="en-US" dirty="0"/>
              <a:t>emphasizes its utility in aggregating content from forums, e-commerce platforms, and social media sites. </a:t>
            </a:r>
          </a:p>
          <a:p>
            <a:endParaRPr lang="en-US" dirty="0"/>
          </a:p>
        </p:txBody>
      </p:sp>
    </p:spTree>
    <p:custDataLst>
      <p:tags r:id="rId1"/>
    </p:custDataLst>
    <p:extLst>
      <p:ext uri="{BB962C8B-B14F-4D97-AF65-F5344CB8AC3E}">
        <p14:creationId xmlns:p14="http://schemas.microsoft.com/office/powerpoint/2010/main" val="3106430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Main Objective</a:t>
            </a:r>
            <a:endParaRPr lang="en-IN" dirty="0">
              <a:latin typeface="+mj-lt"/>
            </a:endParaRPr>
          </a:p>
        </p:txBody>
      </p:sp>
      <p:sp>
        <p:nvSpPr>
          <p:cNvPr id="3" name="Content Placeholder 2"/>
          <p:cNvSpPr>
            <a:spLocks noGrp="1"/>
          </p:cNvSpPr>
          <p:nvPr>
            <p:ph idx="1"/>
          </p:nvPr>
        </p:nvSpPr>
        <p:spPr/>
        <p:txBody>
          <a:bodyPr/>
          <a:lstStyle/>
          <a:p>
            <a:r>
              <a:rPr lang="en-US" dirty="0"/>
              <a:t>The primary objective of this project is to develop an automated solution using UiPath that simplifies personalized hobby related content aggregation for users. By leveraging Reddit as the primary data source, the project aims to extract relevant hobby-specific information and deliver it directly to users via email. The workflow is designed to dynamically process user inputs, such as hobbies, and scrape data from corresponding Reddit threads, ensuring personalized and meaningful results. This project emphasizes the practical application of RPA concepts like data scraping, control flow, and email automation, while laying the foundation for future scalability to integrate multiple platforms.</a:t>
            </a:r>
          </a:p>
        </p:txBody>
      </p:sp>
    </p:spTree>
    <p:custDataLst>
      <p:tags r:id="rId1"/>
    </p:custDataLst>
    <p:extLst>
      <p:ext uri="{BB962C8B-B14F-4D97-AF65-F5344CB8AC3E}">
        <p14:creationId xmlns:p14="http://schemas.microsoft.com/office/powerpoint/2010/main" val="40945783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Architecture</a:t>
            </a:r>
            <a:endParaRPr lang="en-IN" dirty="0">
              <a:latin typeface="+mj-lt"/>
            </a:endParaRPr>
          </a:p>
        </p:txBody>
      </p:sp>
      <p:sp>
        <p:nvSpPr>
          <p:cNvPr id="3" name="Content Placeholder 2"/>
          <p:cNvSpPr>
            <a:spLocks noGrp="1"/>
          </p:cNvSpPr>
          <p:nvPr>
            <p:ph idx="1"/>
          </p:nvPr>
        </p:nvSpPr>
        <p:spPr/>
        <p:txBody>
          <a:bodyPr/>
          <a:lstStyle/>
          <a:p>
            <a:r>
              <a:rPr lang="en-US" dirty="0"/>
              <a:t>Architecture Diagram of the system</a:t>
            </a:r>
          </a:p>
          <a:p>
            <a:pPr marL="0" indent="0">
              <a:buNone/>
            </a:pPr>
            <a:endParaRPr lang="en-US" dirty="0"/>
          </a:p>
        </p:txBody>
      </p:sp>
      <p:pic>
        <p:nvPicPr>
          <p:cNvPr id="5" name="Picture 4">
            <a:extLst>
              <a:ext uri="{FF2B5EF4-FFF2-40B4-BE49-F238E27FC236}">
                <a16:creationId xmlns:a16="http://schemas.microsoft.com/office/drawing/2014/main" id="{478D7C17-7A74-8152-F976-A96270B16E85}"/>
              </a:ext>
            </a:extLst>
          </p:cNvPr>
          <p:cNvPicPr>
            <a:picLocks noChangeAspect="1"/>
          </p:cNvPicPr>
          <p:nvPr/>
        </p:nvPicPr>
        <p:blipFill>
          <a:blip r:embed="rId4"/>
          <a:stretch>
            <a:fillRect/>
          </a:stretch>
        </p:blipFill>
        <p:spPr>
          <a:xfrm>
            <a:off x="1614075" y="1624625"/>
            <a:ext cx="5226178" cy="4157378"/>
          </a:xfrm>
          <a:prstGeom prst="rect">
            <a:avLst/>
          </a:prstGeom>
        </p:spPr>
      </p:pic>
    </p:spTree>
    <p:custDataLst>
      <p:tags r:id="rId1"/>
    </p:custDataLst>
    <p:extLst>
      <p:ext uri="{BB962C8B-B14F-4D97-AF65-F5344CB8AC3E}">
        <p14:creationId xmlns:p14="http://schemas.microsoft.com/office/powerpoint/2010/main" val="37622339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dirty="0">
                <a:latin typeface="+mj-lt"/>
              </a:rPr>
              <a:t>System Flow Diagram: </a:t>
            </a:r>
            <a:r>
              <a:rPr lang="en-IN" dirty="0" err="1">
                <a:latin typeface="+mj-lt"/>
              </a:rPr>
              <a:t>FlowChart</a:t>
            </a:r>
            <a:endParaRPr lang="en-IN" dirty="0">
              <a:latin typeface="+mj-lt"/>
            </a:endParaRPr>
          </a:p>
        </p:txBody>
      </p:sp>
      <p:pic>
        <p:nvPicPr>
          <p:cNvPr id="5" name="Content Placeholder 4">
            <a:extLst>
              <a:ext uri="{FF2B5EF4-FFF2-40B4-BE49-F238E27FC236}">
                <a16:creationId xmlns:a16="http://schemas.microsoft.com/office/drawing/2014/main" id="{499B2F0D-E391-C162-24A6-DC02537164DF}"/>
              </a:ext>
            </a:extLst>
          </p:cNvPr>
          <p:cNvPicPr>
            <a:picLocks noGrp="1" noChangeAspect="1"/>
          </p:cNvPicPr>
          <p:nvPr>
            <p:ph idx="1"/>
          </p:nvPr>
        </p:nvPicPr>
        <p:blipFill>
          <a:blip r:embed="rId4"/>
          <a:stretch>
            <a:fillRect/>
          </a:stretch>
        </p:blipFill>
        <p:spPr>
          <a:xfrm>
            <a:off x="2193088" y="990600"/>
            <a:ext cx="4757823" cy="5334000"/>
          </a:xfrm>
        </p:spPr>
      </p:pic>
    </p:spTree>
    <p:custDataLst>
      <p:tags r:id="rId1"/>
    </p:custDataLst>
    <p:extLst>
      <p:ext uri="{BB962C8B-B14F-4D97-AF65-F5344CB8AC3E}">
        <p14:creationId xmlns:p14="http://schemas.microsoft.com/office/powerpoint/2010/main" val="1225227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Data Flow Diagram – Sequence Diagram</a:t>
            </a:r>
            <a:endParaRPr lang="en-IN" dirty="0">
              <a:latin typeface="+mj-lt"/>
            </a:endParaRPr>
          </a:p>
        </p:txBody>
      </p:sp>
      <p:pic>
        <p:nvPicPr>
          <p:cNvPr id="5" name="Content Placeholder 4">
            <a:extLst>
              <a:ext uri="{FF2B5EF4-FFF2-40B4-BE49-F238E27FC236}">
                <a16:creationId xmlns:a16="http://schemas.microsoft.com/office/drawing/2014/main" id="{8A3D074A-A32E-4B9A-77AA-B51A4D82E97F}"/>
              </a:ext>
            </a:extLst>
          </p:cNvPr>
          <p:cNvPicPr>
            <a:picLocks noGrp="1" noChangeAspect="1"/>
          </p:cNvPicPr>
          <p:nvPr>
            <p:ph idx="1"/>
          </p:nvPr>
        </p:nvPicPr>
        <p:blipFill>
          <a:blip r:embed="rId4"/>
          <a:stretch>
            <a:fillRect/>
          </a:stretch>
        </p:blipFill>
        <p:spPr>
          <a:xfrm>
            <a:off x="1242548" y="1268760"/>
            <a:ext cx="6658904" cy="4601217"/>
          </a:xfrm>
        </p:spPr>
      </p:pic>
    </p:spTree>
    <p:custDataLst>
      <p:tags r:id="rId1"/>
    </p:custDataLst>
    <p:extLst>
      <p:ext uri="{BB962C8B-B14F-4D97-AF65-F5344CB8AC3E}">
        <p14:creationId xmlns:p14="http://schemas.microsoft.com/office/powerpoint/2010/main" val="7845066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Implementation</a:t>
            </a:r>
            <a:endParaRPr lang="en-IN" dirty="0">
              <a:latin typeface="+mj-lt"/>
            </a:endParaRPr>
          </a:p>
        </p:txBody>
      </p:sp>
      <p:pic>
        <p:nvPicPr>
          <p:cNvPr id="5" name="Content Placeholder 4">
            <a:extLst>
              <a:ext uri="{FF2B5EF4-FFF2-40B4-BE49-F238E27FC236}">
                <a16:creationId xmlns:a16="http://schemas.microsoft.com/office/drawing/2014/main" id="{EB3B15AF-9FEA-4611-C9B3-146D05690DEE}"/>
              </a:ext>
            </a:extLst>
          </p:cNvPr>
          <p:cNvPicPr>
            <a:picLocks noGrp="1" noChangeAspect="1"/>
          </p:cNvPicPr>
          <p:nvPr>
            <p:ph idx="1"/>
          </p:nvPr>
        </p:nvPicPr>
        <p:blipFill>
          <a:blip r:embed="rId4"/>
          <a:stretch>
            <a:fillRect/>
          </a:stretch>
        </p:blipFill>
        <p:spPr>
          <a:xfrm>
            <a:off x="2707347" y="990600"/>
            <a:ext cx="3729306" cy="5334000"/>
          </a:xfrm>
        </p:spPr>
      </p:pic>
    </p:spTree>
    <p:custDataLst>
      <p:tags r:id="rId1"/>
    </p:custDataLst>
    <p:extLst>
      <p:ext uri="{BB962C8B-B14F-4D97-AF65-F5344CB8AC3E}">
        <p14:creationId xmlns:p14="http://schemas.microsoft.com/office/powerpoint/2010/main" val="1769472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8710A-8710-F5AC-BD91-5B71B6B51D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FD2874-A091-8FA7-0419-43BA700FF808}"/>
              </a:ext>
            </a:extLst>
          </p:cNvPr>
          <p:cNvSpPr>
            <a:spLocks noGrp="1"/>
          </p:cNvSpPr>
          <p:nvPr>
            <p:ph type="title"/>
          </p:nvPr>
        </p:nvSpPr>
        <p:spPr/>
        <p:txBody>
          <a:bodyPr>
            <a:normAutofit/>
          </a:bodyPr>
          <a:lstStyle/>
          <a:p>
            <a:r>
              <a:rPr lang="en-US" dirty="0"/>
              <a:t>Implementation</a:t>
            </a:r>
            <a:endParaRPr lang="en-IN" dirty="0">
              <a:latin typeface="+mj-lt"/>
            </a:endParaRPr>
          </a:p>
        </p:txBody>
      </p:sp>
      <p:pic>
        <p:nvPicPr>
          <p:cNvPr id="10" name="Content Placeholder 9">
            <a:extLst>
              <a:ext uri="{FF2B5EF4-FFF2-40B4-BE49-F238E27FC236}">
                <a16:creationId xmlns:a16="http://schemas.microsoft.com/office/drawing/2014/main" id="{D3B0B896-F1C7-5F3F-517F-6B26FC73BC91}"/>
              </a:ext>
            </a:extLst>
          </p:cNvPr>
          <p:cNvPicPr>
            <a:picLocks noGrp="1" noChangeAspect="1"/>
          </p:cNvPicPr>
          <p:nvPr>
            <p:ph idx="1"/>
          </p:nvPr>
        </p:nvPicPr>
        <p:blipFill>
          <a:blip r:embed="rId4"/>
          <a:stretch>
            <a:fillRect/>
          </a:stretch>
        </p:blipFill>
        <p:spPr>
          <a:xfrm>
            <a:off x="4932040" y="1032154"/>
            <a:ext cx="3204356" cy="5218524"/>
          </a:xfrm>
        </p:spPr>
      </p:pic>
      <p:pic>
        <p:nvPicPr>
          <p:cNvPr id="7" name="Picture 6">
            <a:extLst>
              <a:ext uri="{FF2B5EF4-FFF2-40B4-BE49-F238E27FC236}">
                <a16:creationId xmlns:a16="http://schemas.microsoft.com/office/drawing/2014/main" id="{FC9B13B3-3641-3D8B-653D-41C3362FE302}"/>
              </a:ext>
            </a:extLst>
          </p:cNvPr>
          <p:cNvPicPr>
            <a:picLocks noChangeAspect="1"/>
          </p:cNvPicPr>
          <p:nvPr/>
        </p:nvPicPr>
        <p:blipFill>
          <a:blip r:embed="rId5"/>
          <a:stretch>
            <a:fillRect/>
          </a:stretch>
        </p:blipFill>
        <p:spPr>
          <a:xfrm>
            <a:off x="287524" y="1088740"/>
            <a:ext cx="3420380" cy="4989877"/>
          </a:xfrm>
          <a:prstGeom prst="rect">
            <a:avLst/>
          </a:prstGeom>
        </p:spPr>
      </p:pic>
    </p:spTree>
    <p:custDataLst>
      <p:tags r:id="rId1"/>
    </p:custDataLst>
    <p:extLst>
      <p:ext uri="{BB962C8B-B14F-4D97-AF65-F5344CB8AC3E}">
        <p14:creationId xmlns:p14="http://schemas.microsoft.com/office/powerpoint/2010/main" val="1308044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EA37A-3DF4-B5C5-8E9B-A3C8A24AA9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EB9F5-A3AA-7825-282C-38331D67A8FA}"/>
              </a:ext>
            </a:extLst>
          </p:cNvPr>
          <p:cNvSpPr>
            <a:spLocks noGrp="1"/>
          </p:cNvSpPr>
          <p:nvPr>
            <p:ph type="title"/>
          </p:nvPr>
        </p:nvSpPr>
        <p:spPr/>
        <p:txBody>
          <a:bodyPr>
            <a:normAutofit/>
          </a:bodyPr>
          <a:lstStyle/>
          <a:p>
            <a:r>
              <a:rPr lang="en-US" dirty="0"/>
              <a:t>Implementation</a:t>
            </a:r>
            <a:endParaRPr lang="en-IN" dirty="0">
              <a:latin typeface="+mj-lt"/>
            </a:endParaRPr>
          </a:p>
        </p:txBody>
      </p:sp>
      <p:pic>
        <p:nvPicPr>
          <p:cNvPr id="9" name="Content Placeholder 8">
            <a:extLst>
              <a:ext uri="{FF2B5EF4-FFF2-40B4-BE49-F238E27FC236}">
                <a16:creationId xmlns:a16="http://schemas.microsoft.com/office/drawing/2014/main" id="{858C7FE2-7E78-843B-9108-9E7F3F2504C9}"/>
              </a:ext>
            </a:extLst>
          </p:cNvPr>
          <p:cNvPicPr>
            <a:picLocks noGrp="1" noChangeAspect="1"/>
          </p:cNvPicPr>
          <p:nvPr>
            <p:ph idx="1"/>
          </p:nvPr>
        </p:nvPicPr>
        <p:blipFill>
          <a:blip r:embed="rId4"/>
          <a:stretch>
            <a:fillRect/>
          </a:stretch>
        </p:blipFill>
        <p:spPr>
          <a:xfrm>
            <a:off x="359532" y="914400"/>
            <a:ext cx="3485137" cy="5334000"/>
          </a:xfrm>
        </p:spPr>
      </p:pic>
      <p:pic>
        <p:nvPicPr>
          <p:cNvPr id="11" name="Picture 10">
            <a:extLst>
              <a:ext uri="{FF2B5EF4-FFF2-40B4-BE49-F238E27FC236}">
                <a16:creationId xmlns:a16="http://schemas.microsoft.com/office/drawing/2014/main" id="{F79FC30D-F762-27F6-7F27-68D7D006E0EC}"/>
              </a:ext>
            </a:extLst>
          </p:cNvPr>
          <p:cNvPicPr>
            <a:picLocks noChangeAspect="1"/>
          </p:cNvPicPr>
          <p:nvPr/>
        </p:nvPicPr>
        <p:blipFill>
          <a:blip r:embed="rId5"/>
          <a:stretch>
            <a:fillRect/>
          </a:stretch>
        </p:blipFill>
        <p:spPr>
          <a:xfrm>
            <a:off x="4644008" y="762000"/>
            <a:ext cx="3659823" cy="5486400"/>
          </a:xfrm>
          <a:prstGeom prst="rect">
            <a:avLst/>
          </a:prstGeom>
        </p:spPr>
      </p:pic>
    </p:spTree>
    <p:custDataLst>
      <p:tags r:id="rId1"/>
    </p:custDataLst>
    <p:extLst>
      <p:ext uri="{BB962C8B-B14F-4D97-AF65-F5344CB8AC3E}">
        <p14:creationId xmlns:p14="http://schemas.microsoft.com/office/powerpoint/2010/main" val="3137137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Sample Output:</a:t>
            </a:r>
            <a:endParaRPr lang="en-IN" dirty="0">
              <a:latin typeface="+mj-lt"/>
            </a:endParaRPr>
          </a:p>
        </p:txBody>
      </p:sp>
      <p:sp>
        <p:nvSpPr>
          <p:cNvPr id="3" name="Content Placeholder 2"/>
          <p:cNvSpPr>
            <a:spLocks noGrp="1"/>
          </p:cNvSpPr>
          <p:nvPr>
            <p:ph idx="1"/>
          </p:nvPr>
        </p:nvSpPr>
        <p:spPr/>
        <p:txBody>
          <a:bodyPr/>
          <a:lstStyle/>
          <a:p>
            <a:pPr marL="0" indent="0">
              <a:buNone/>
            </a:pPr>
            <a:endParaRPr lang="en-US" dirty="0"/>
          </a:p>
          <a:p>
            <a:endParaRPr lang="en-US" dirty="0"/>
          </a:p>
        </p:txBody>
      </p:sp>
      <p:pic>
        <p:nvPicPr>
          <p:cNvPr id="5" name="Picture 4">
            <a:extLst>
              <a:ext uri="{FF2B5EF4-FFF2-40B4-BE49-F238E27FC236}">
                <a16:creationId xmlns:a16="http://schemas.microsoft.com/office/drawing/2014/main" id="{54AE7D8A-CC5D-EE6C-89DB-539DA734BC00}"/>
              </a:ext>
            </a:extLst>
          </p:cNvPr>
          <p:cNvPicPr>
            <a:picLocks noChangeAspect="1"/>
          </p:cNvPicPr>
          <p:nvPr/>
        </p:nvPicPr>
        <p:blipFill>
          <a:blip r:embed="rId4"/>
          <a:stretch>
            <a:fillRect/>
          </a:stretch>
        </p:blipFill>
        <p:spPr>
          <a:xfrm>
            <a:off x="175186" y="1664804"/>
            <a:ext cx="8757932" cy="3766432"/>
          </a:xfrm>
          <a:prstGeom prst="rect">
            <a:avLst/>
          </a:prstGeom>
        </p:spPr>
      </p:pic>
    </p:spTree>
    <p:custDataLst>
      <p:tags r:id="rId1"/>
    </p:custDataLst>
    <p:extLst>
      <p:ext uri="{BB962C8B-B14F-4D97-AF65-F5344CB8AC3E}">
        <p14:creationId xmlns:p14="http://schemas.microsoft.com/office/powerpoint/2010/main" val="19213275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Conclusions</a:t>
            </a:r>
            <a:endParaRPr lang="en-IN" dirty="0">
              <a:latin typeface="+mj-lt"/>
            </a:endParaRPr>
          </a:p>
        </p:txBody>
      </p:sp>
      <p:sp>
        <p:nvSpPr>
          <p:cNvPr id="3" name="Content Placeholder 2"/>
          <p:cNvSpPr>
            <a:spLocks noGrp="1"/>
          </p:cNvSpPr>
          <p:nvPr>
            <p:ph idx="1"/>
          </p:nvPr>
        </p:nvSpPr>
        <p:spPr/>
        <p:txBody>
          <a:bodyPr/>
          <a:lstStyle/>
          <a:p>
            <a:r>
              <a:rPr lang="en-US" dirty="0"/>
              <a:t>The Automated Hobby-Based Reddit Data Aggregator exemplifies the transformative potential of Robotic Process Automation (RPA) in simplifying complex workflows and providing personalized user experiences. By leveraging UiPath’s robust capabilities, this project streamlines the process of hobby-specific data collection and aggregation, addressing the growing need for customized insights in a digital age.</a:t>
            </a:r>
          </a:p>
          <a:p>
            <a:r>
              <a:rPr lang="en-US" dirty="0"/>
              <a:t>This system efficiently reads user data, including hobbies and links, from an Excel file and processes it to fetch relevant content from Reddit. By automating the data extraction, aggregation, and communication steps, the project not only reduces manual effort but also ensures a consistent and error-free workflow.</a:t>
            </a:r>
          </a:p>
        </p:txBody>
      </p:sp>
    </p:spTree>
    <p:custDataLst>
      <p:tags r:id="rId1"/>
    </p:custDataLst>
    <p:extLst>
      <p:ext uri="{BB962C8B-B14F-4D97-AF65-F5344CB8AC3E}">
        <p14:creationId xmlns:p14="http://schemas.microsoft.com/office/powerpoint/2010/main" val="7153749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Future Enhancement</a:t>
            </a:r>
            <a:endParaRPr lang="en-IN" dirty="0">
              <a:latin typeface="+mj-lt"/>
            </a:endParaRPr>
          </a:p>
        </p:txBody>
      </p:sp>
      <p:sp>
        <p:nvSpPr>
          <p:cNvPr id="3" name="Content Placeholder 2"/>
          <p:cNvSpPr>
            <a:spLocks noGrp="1"/>
          </p:cNvSpPr>
          <p:nvPr>
            <p:ph idx="1"/>
          </p:nvPr>
        </p:nvSpPr>
        <p:spPr/>
        <p:txBody>
          <a:bodyPr/>
          <a:lstStyle/>
          <a:p>
            <a:r>
              <a:rPr lang="en-US" dirty="0"/>
              <a:t>The project paves the way for future enhancements, such as integrating multiple platforms and utilizing techniques for content summarization. By addressing the identified challenges and leveraging advancements in RPA and personalization technologies, this project demonstrates the potential of automation in delivering value to end-users.</a:t>
            </a:r>
          </a:p>
          <a:p>
            <a:r>
              <a:rPr lang="en-US" dirty="0"/>
              <a:t>Looking ahead, the system could be extended to include multi-lingual support and sentiment analysis for a broader scope of user engagement. These advancements would enable the system to cater to global audiences and extract insights with deeper contextual relevance.</a:t>
            </a:r>
          </a:p>
          <a:p>
            <a:endParaRPr lang="en-US" dirty="0"/>
          </a:p>
          <a:p>
            <a:endParaRPr lang="en-US" dirty="0"/>
          </a:p>
        </p:txBody>
      </p:sp>
    </p:spTree>
    <p:custDataLst>
      <p:tags r:id="rId1"/>
    </p:custDataLst>
    <p:extLst>
      <p:ext uri="{BB962C8B-B14F-4D97-AF65-F5344CB8AC3E}">
        <p14:creationId xmlns:p14="http://schemas.microsoft.com/office/powerpoint/2010/main" val="21108532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References</a:t>
            </a:r>
            <a:endParaRPr lang="en-IN" dirty="0">
              <a:latin typeface="+mj-lt"/>
            </a:endParaRPr>
          </a:p>
        </p:txBody>
      </p:sp>
      <p:sp>
        <p:nvSpPr>
          <p:cNvPr id="3" name="Content Placeholder 2"/>
          <p:cNvSpPr>
            <a:spLocks noGrp="1"/>
          </p:cNvSpPr>
          <p:nvPr>
            <p:ph idx="1"/>
          </p:nvPr>
        </p:nvSpPr>
        <p:spPr/>
        <p:txBody>
          <a:bodyPr/>
          <a:lstStyle/>
          <a:p>
            <a:pPr marL="0" indent="0">
              <a:buNone/>
            </a:pPr>
            <a:r>
              <a:rPr lang="en-US" b="1" dirty="0"/>
              <a:t>UiPath Documentation: Email Activities Guide </a:t>
            </a:r>
          </a:p>
          <a:p>
            <a:pPr marL="0" indent="0">
              <a:buNone/>
            </a:pPr>
            <a:r>
              <a:rPr lang="en-US" dirty="0"/>
              <a:t>                  ○ This documentation offered detailed instructions on configuring and using UiPath’s email activities, such as fetching emails via IMAP and dispatching them via SMTP. </a:t>
            </a:r>
          </a:p>
          <a:p>
            <a:pPr marL="0" indent="0">
              <a:buNone/>
            </a:pPr>
            <a:r>
              <a:rPr lang="en-US" b="1" dirty="0"/>
              <a:t>OpenAI API Documentation: ChatGPT API Usage and Features </a:t>
            </a:r>
          </a:p>
          <a:p>
            <a:pPr marL="0" indent="0">
              <a:buNone/>
            </a:pPr>
            <a:r>
              <a:rPr lang="en-US" dirty="0"/>
              <a:t>                   ○ The OpenAI API documentation served as a key reference for understanding the capabilities of the GPT models, including text generation, response customization, and handling API requests.</a:t>
            </a:r>
          </a:p>
        </p:txBody>
      </p:sp>
    </p:spTree>
    <p:custDataLst>
      <p:tags r:id="rId1"/>
    </p:custDataLst>
    <p:extLst>
      <p:ext uri="{BB962C8B-B14F-4D97-AF65-F5344CB8AC3E}">
        <p14:creationId xmlns:p14="http://schemas.microsoft.com/office/powerpoint/2010/main" val="19304747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844234" y="2321005"/>
            <a:ext cx="5455532" cy="1569660"/>
          </a:xfrm>
          <a:prstGeom prst="rect">
            <a:avLst/>
          </a:prstGeom>
          <a:noFill/>
        </p:spPr>
        <p:txBody>
          <a:bodyPr wrap="none" lIns="91440" tIns="45720" rIns="91440" bIns="45720">
            <a:spAutoFit/>
          </a:bodyPr>
          <a:lstStyle/>
          <a:p>
            <a:pPr algn="ctr"/>
            <a:r>
              <a:rPr lang="en-US" sz="9600" dirty="0">
                <a:ln w="0"/>
                <a:effectLst>
                  <a:outerShdw blurRad="38100" dist="19050" dir="2700000" algn="tl" rotWithShape="0">
                    <a:schemeClr val="dk1">
                      <a:alpha val="40000"/>
                    </a:schemeClr>
                  </a:outerShdw>
                </a:effectLst>
              </a:rPr>
              <a:t>Thank You</a:t>
            </a:r>
          </a:p>
        </p:txBody>
      </p:sp>
    </p:spTree>
    <p:extLst>
      <p:ext uri="{BB962C8B-B14F-4D97-AF65-F5344CB8AC3E}">
        <p14:creationId xmlns:p14="http://schemas.microsoft.com/office/powerpoint/2010/main" val="207485784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4|2.4|1.4"/>
</p:tagLst>
</file>

<file path=ppt/tags/tag2.xml><?xml version="1.0" encoding="utf-8"?>
<p:tagLst xmlns:a="http://schemas.openxmlformats.org/drawingml/2006/main" xmlns:r="http://schemas.openxmlformats.org/officeDocument/2006/relationships" xmlns:p="http://schemas.openxmlformats.org/presentationml/2006/main">
  <p:tag name="TIMING" val="|1.1|4|2.4|1.4"/>
</p:tagLst>
</file>

<file path=ppt/tags/tag3.xml><?xml version="1.0" encoding="utf-8"?>
<p:tagLst xmlns:a="http://schemas.openxmlformats.org/drawingml/2006/main" xmlns:r="http://schemas.openxmlformats.org/officeDocument/2006/relationships" xmlns:p="http://schemas.openxmlformats.org/presentationml/2006/main">
  <p:tag name="TIMING" val="|1.1|4|2.4|1.4"/>
</p:tagLst>
</file>

<file path=ppt/tags/tag4.xml><?xml version="1.0" encoding="utf-8"?>
<p:tagLst xmlns:a="http://schemas.openxmlformats.org/drawingml/2006/main" xmlns:r="http://schemas.openxmlformats.org/officeDocument/2006/relationships" xmlns:p="http://schemas.openxmlformats.org/presentationml/2006/main">
  <p:tag name="TIMING" val="|1.1|4|2.4|1.4"/>
</p:tagLst>
</file>

<file path=ppt/tags/tag5.xml><?xml version="1.0" encoding="utf-8"?>
<p:tagLst xmlns:a="http://schemas.openxmlformats.org/drawingml/2006/main" xmlns:r="http://schemas.openxmlformats.org/officeDocument/2006/relationships" xmlns:p="http://schemas.openxmlformats.org/presentationml/2006/main">
  <p:tag name="TIMING" val="|1.1|4|2.4|1.4"/>
</p:tagLst>
</file>

<file path=ppt/tags/tag6.xml><?xml version="1.0" encoding="utf-8"?>
<p:tagLst xmlns:a="http://schemas.openxmlformats.org/drawingml/2006/main" xmlns:r="http://schemas.openxmlformats.org/officeDocument/2006/relationships" xmlns:p="http://schemas.openxmlformats.org/presentationml/2006/main">
  <p:tag name="TIMING" val="|1.1|4|2.4|1.4"/>
</p:tagLst>
</file>

<file path=ppt/tags/tag7.xml><?xml version="1.0" encoding="utf-8"?>
<p:tagLst xmlns:a="http://schemas.openxmlformats.org/drawingml/2006/main" xmlns:r="http://schemas.openxmlformats.org/officeDocument/2006/relationships" xmlns:p="http://schemas.openxmlformats.org/presentationml/2006/main">
  <p:tag name="TIMING" val="|1.1|4|2.4|1.4"/>
</p:tagLst>
</file>

<file path=ppt/tags/tag8.xml><?xml version="1.0" encoding="utf-8"?>
<p:tagLst xmlns:a="http://schemas.openxmlformats.org/drawingml/2006/main" xmlns:r="http://schemas.openxmlformats.org/officeDocument/2006/relationships" xmlns:p="http://schemas.openxmlformats.org/presentationml/2006/main">
  <p:tag name="TIMING" val="|1.1|4|2.4|1.4"/>
</p:tagLst>
</file>

<file path=ppt/tags/tag9.xml><?xml version="1.0" encoding="utf-8"?>
<p:tagLst xmlns:a="http://schemas.openxmlformats.org/drawingml/2006/main" xmlns:r="http://schemas.openxmlformats.org/officeDocument/2006/relationships" xmlns:p="http://schemas.openxmlformats.org/presentationml/2006/main">
  <p:tag name="TIMING" val="|1.1|4|2.4|1.4"/>
</p:tagLst>
</file>

<file path=ppt/tags/tag10.xml><?xml version="1.0" encoding="utf-8"?>
<p:tagLst xmlns:a="http://schemas.openxmlformats.org/drawingml/2006/main" xmlns:r="http://schemas.openxmlformats.org/officeDocument/2006/relationships" xmlns:p="http://schemas.openxmlformats.org/presentationml/2006/main">
  <p:tag name="TIMING" val="|1.1|4|2.4|1.4"/>
</p:tagLst>
</file>

<file path=ppt/tags/tag11.xml><?xml version="1.0" encoding="utf-8"?>
<p:tagLst xmlns:a="http://schemas.openxmlformats.org/drawingml/2006/main" xmlns:r="http://schemas.openxmlformats.org/officeDocument/2006/relationships" xmlns:p="http://schemas.openxmlformats.org/presentationml/2006/main">
  <p:tag name="TIMING" val="|1.1|4|2.4|1.4"/>
</p:tagLst>
</file>

<file path=ppt/tags/tag12.xml><?xml version="1.0" encoding="utf-8"?>
<p:tagLst xmlns:a="http://schemas.openxmlformats.org/drawingml/2006/main" xmlns:r="http://schemas.openxmlformats.org/officeDocument/2006/relationships" xmlns:p="http://schemas.openxmlformats.org/presentationml/2006/main">
  <p:tag name="TIMING" val="|1.1|4|2.4|1.4"/>
</p:tagLst>
</file>

<file path=ppt/tags/tag13.xml><?xml version="1.0" encoding="utf-8"?>
<p:tagLst xmlns:a="http://schemas.openxmlformats.org/drawingml/2006/main" xmlns:r="http://schemas.openxmlformats.org/officeDocument/2006/relationships" xmlns:p="http://schemas.openxmlformats.org/presentationml/2006/main">
  <p:tag name="TIMING" val="|1.1|4|2.4|1.4"/>
</p:tagLst>
</file>

<file path=ppt/tags/tag14.xml><?xml version="1.0" encoding="utf-8"?>
<p:tagLst xmlns:a="http://schemas.openxmlformats.org/drawingml/2006/main" xmlns:r="http://schemas.openxmlformats.org/officeDocument/2006/relationships" xmlns:p="http://schemas.openxmlformats.org/presentationml/2006/main">
  <p:tag name="TIMING" val="|1.1|4|2.4|1.4"/>
</p:tagLst>
</file>

<file path=ppt/tags/tag15.xml><?xml version="1.0" encoding="utf-8"?>
<p:tagLst xmlns:a="http://schemas.openxmlformats.org/drawingml/2006/main" xmlns:r="http://schemas.openxmlformats.org/officeDocument/2006/relationships" xmlns:p="http://schemas.openxmlformats.org/presentationml/2006/main">
  <p:tag name="TIMING" val="|1.1|4|2.4|1.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9190</TotalTime>
  <Words>947</Words>
  <Application>Microsoft Office PowerPoint</Application>
  <PresentationFormat>On-screen Show (4:3)</PresentationFormat>
  <Paragraphs>59</Paragraphs>
  <Slides>17</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Open Sans Bold</vt:lpstr>
      <vt:lpstr>Open Sans Extrabold</vt:lpstr>
      <vt:lpstr>Open Sans Light</vt:lpstr>
      <vt:lpstr>Wingdings</vt:lpstr>
      <vt:lpstr>Office Theme</vt:lpstr>
      <vt:lpstr>PowerPoint Presentation</vt:lpstr>
      <vt:lpstr>Abstract</vt:lpstr>
      <vt:lpstr>Need for the Proposed System</vt:lpstr>
      <vt:lpstr>Advantages of the Proposed System</vt:lpstr>
      <vt:lpstr>Literature Survey</vt:lpstr>
      <vt:lpstr>Main Objective</vt:lpstr>
      <vt:lpstr>Architecture</vt:lpstr>
      <vt:lpstr>System Flow Diagram: FlowChart</vt:lpstr>
      <vt:lpstr>Data Flow Diagram – Sequence Diagram</vt:lpstr>
      <vt:lpstr>Implementation</vt:lpstr>
      <vt:lpstr>Implementation</vt:lpstr>
      <vt:lpstr>Implementation</vt:lpstr>
      <vt:lpstr>Sample Output:</vt:lpstr>
      <vt:lpstr>Conclusions</vt:lpstr>
      <vt:lpstr>Future Enhancement</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RUPALA N</cp:lastModifiedBy>
  <cp:revision>1743</cp:revision>
  <dcterms:created xsi:type="dcterms:W3CDTF">2013-05-17T03:00:03Z</dcterms:created>
  <dcterms:modified xsi:type="dcterms:W3CDTF">2024-11-21T19:37:02Z</dcterms:modified>
</cp:coreProperties>
</file>