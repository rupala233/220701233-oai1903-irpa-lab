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80" r:id="rId2"/>
    <p:sldId id="366" r:id="rId3"/>
    <p:sldId id="380" r:id="rId4"/>
    <p:sldId id="383" r:id="rId5"/>
    <p:sldId id="384" r:id="rId6"/>
    <p:sldId id="385" r:id="rId7"/>
    <p:sldId id="386" r:id="rId8"/>
    <p:sldId id="387" r:id="rId9"/>
    <p:sldId id="388" r:id="rId10"/>
    <p:sldId id="391" r:id="rId11"/>
    <p:sldId id="396" r:id="rId12"/>
    <p:sldId id="397" r:id="rId13"/>
    <p:sldId id="392" r:id="rId14"/>
    <p:sldId id="393" r:id="rId15"/>
    <p:sldId id="394" r:id="rId16"/>
    <p:sldId id="395" r:id="rId17"/>
    <p:sldId id="28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p:scale>
          <a:sx n="77" d="100"/>
          <a:sy n="77" d="100"/>
        </p:scale>
        <p:origin x="1733"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handoutMaster" Target="handoutMasters/handout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F3CFA-9A55-5C47-0C26-58A2A4AE8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1DDB8-E21F-2812-2E93-B06AF5480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AC76F-4C81-604F-E966-EE416C8D9DE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58C91A9-A1EF-DAE5-FDE1-4AE25D3A33C8}"/>
              </a:ext>
            </a:extLst>
          </p:cNvPr>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3990636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B418F-F2EC-E4F1-1A9A-15CA79D2C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6E43C-D3A1-5423-7469-976E065CC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762D8-1455-B901-38E8-9A86FE2444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09E2739-3152-BB21-C78A-3F670973BAEE}"/>
              </a:ext>
            </a:extLst>
          </p:cNvPr>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1891947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 /><Relationship Id="rId2" Type="http://schemas.openxmlformats.org/officeDocument/2006/relationships/slideLayout" Target="../slideLayouts/slideLayout2.xml" /><Relationship Id="rId1" Type="http://schemas.openxmlformats.org/officeDocument/2006/relationships/tags" Target="../tags/tag1.xml" /></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 /><Relationship Id="rId2" Type="http://schemas.openxmlformats.org/officeDocument/2006/relationships/slideLayout" Target="../slideLayouts/slideLayout2.xml" /><Relationship Id="rId1" Type="http://schemas.openxmlformats.org/officeDocument/2006/relationships/tags" Target="../tags/tag2.xml" /></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 /><Relationship Id="rId2" Type="http://schemas.openxmlformats.org/officeDocument/2006/relationships/slideLayout" Target="../slideLayouts/slideLayout2.xml" /><Relationship Id="rId1" Type="http://schemas.openxmlformats.org/officeDocument/2006/relationships/tags" Target="../tags/tag3.xml" /></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 /><Relationship Id="rId2" Type="http://schemas.openxmlformats.org/officeDocument/2006/relationships/slideLayout" Target="../slideLayouts/slideLayout2.xml" /><Relationship Id="rId1" Type="http://schemas.openxmlformats.org/officeDocument/2006/relationships/tags" Target="../tags/tag4.xml" /></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 /><Relationship Id="rId2" Type="http://schemas.openxmlformats.org/officeDocument/2006/relationships/slideLayout" Target="../slideLayouts/slideLayout2.xml" /><Relationship Id="rId1" Type="http://schemas.openxmlformats.org/officeDocument/2006/relationships/tags" Target="../tags/tag5.xml" /></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 /><Relationship Id="rId2" Type="http://schemas.openxmlformats.org/officeDocument/2006/relationships/slideLayout" Target="../slideLayouts/slideLayout2.xml" /><Relationship Id="rId1" Type="http://schemas.openxmlformats.org/officeDocument/2006/relationships/tags" Target="../tags/tag6.xml" /><Relationship Id="rId4" Type="http://schemas.openxmlformats.org/officeDocument/2006/relationships/image" Target="../media/image3.png" /></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 /><Relationship Id="rId2" Type="http://schemas.openxmlformats.org/officeDocument/2006/relationships/slideLayout" Target="../slideLayouts/slideLayout2.xml" /><Relationship Id="rId1" Type="http://schemas.openxmlformats.org/officeDocument/2006/relationships/tags" Target="../tags/tag7.xml" /><Relationship Id="rId4" Type="http://schemas.openxmlformats.org/officeDocument/2006/relationships/image" Target="../media/image4.png" /></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 /><Relationship Id="rId2" Type="http://schemas.openxmlformats.org/officeDocument/2006/relationships/slideLayout" Target="../slideLayouts/slideLayout2.xml" /><Relationship Id="rId1" Type="http://schemas.openxmlformats.org/officeDocument/2006/relationships/tags" Target="../tags/tag8.xml" /><Relationship Id="rId4" Type="http://schemas.openxmlformats.org/officeDocument/2006/relationships/image" Target="../media/image5.png" /></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 /><Relationship Id="rId2" Type="http://schemas.openxmlformats.org/officeDocument/2006/relationships/slideLayout" Target="../slideLayouts/slideLayout2.xml" /><Relationship Id="rId1" Type="http://schemas.openxmlformats.org/officeDocument/2006/relationships/tags" Target="../tags/tag9.xml" /><Relationship Id="rId4" Type="http://schemas.openxmlformats.org/officeDocument/2006/relationships/image" Target="../media/image6.png" /></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 /><Relationship Id="rId2" Type="http://schemas.openxmlformats.org/officeDocument/2006/relationships/slideLayout" Target="../slideLayouts/slideLayout2.xml" /><Relationship Id="rId1" Type="http://schemas.openxmlformats.org/officeDocument/2006/relationships/tags" Target="../tags/tag10.xml" /><Relationship Id="rId5" Type="http://schemas.openxmlformats.org/officeDocument/2006/relationships/image" Target="../media/image8.png" /><Relationship Id="rId4" Type="http://schemas.openxmlformats.org/officeDocument/2006/relationships/image" Target="../media/image7.png" /></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 /><Relationship Id="rId2" Type="http://schemas.openxmlformats.org/officeDocument/2006/relationships/slideLayout" Target="../slideLayouts/slideLayout2.xml" /><Relationship Id="rId1" Type="http://schemas.openxmlformats.org/officeDocument/2006/relationships/tags" Target="../tags/tag11.xml" /><Relationship Id="rId5" Type="http://schemas.openxmlformats.org/officeDocument/2006/relationships/image" Target="../media/image10.png" /><Relationship Id="rId4" Type="http://schemas.openxmlformats.org/officeDocument/2006/relationships/image" Target="../media/image9.png" /></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 /><Relationship Id="rId2" Type="http://schemas.openxmlformats.org/officeDocument/2006/relationships/slideLayout" Target="../slideLayouts/slideLayout2.xml" /><Relationship Id="rId1" Type="http://schemas.openxmlformats.org/officeDocument/2006/relationships/tags" Target="../tags/tag12.xml" /><Relationship Id="rId4" Type="http://schemas.openxmlformats.org/officeDocument/2006/relationships/image" Target="../media/image11.png" /></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 /><Relationship Id="rId2" Type="http://schemas.openxmlformats.org/officeDocument/2006/relationships/slideLayout" Target="../slideLayouts/slideLayout2.xml" /><Relationship Id="rId1" Type="http://schemas.openxmlformats.org/officeDocument/2006/relationships/tags" Target="../tags/tag13.xml" /></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 /><Relationship Id="rId2" Type="http://schemas.openxmlformats.org/officeDocument/2006/relationships/slideLayout" Target="../slideLayouts/slideLayout2.xml" /><Relationship Id="rId1" Type="http://schemas.openxmlformats.org/officeDocument/2006/relationships/tags" Target="../tags/tag14.xml" /></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 /><Relationship Id="rId2" Type="http://schemas.openxmlformats.org/officeDocument/2006/relationships/slideLayout" Target="../slideLayouts/slideLayout2.xml" /><Relationship Id="rId1" Type="http://schemas.openxmlformats.org/officeDocument/2006/relationships/tags" Target="../tags/tag15.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6590463" cy="1631216"/>
            </a:xfrm>
            <a:prstGeom prst="rect">
              <a:avLst/>
            </a:prstGeom>
            <a:noFill/>
          </p:spPr>
          <p:txBody>
            <a:bodyPr wrap="square" rtlCol="0">
              <a:spAutoFit/>
            </a:bodyPr>
            <a:lstStyle/>
            <a:p>
              <a:r>
                <a:rPr lang="en-US" sz="2000" b="1" dirty="0"/>
                <a:t>Your Register No: 220701233</a:t>
              </a:r>
            </a:p>
            <a:p>
              <a:r>
                <a:rPr lang="en-US" sz="2000" b="1" dirty="0"/>
                <a:t>Name: </a:t>
              </a:r>
              <a:r>
                <a:rPr lang="en-US" sz="2000" b="1" dirty="0" err="1"/>
                <a:t>Rupala</a:t>
              </a:r>
              <a:r>
                <a:rPr lang="en-US" sz="2000" b="1" dirty="0"/>
                <a:t> N</a:t>
              </a:r>
            </a:p>
            <a:p>
              <a:r>
                <a:rPr lang="en-US" sz="2000" b="1" dirty="0"/>
                <a:t>Guide Name: Dr. N. </a:t>
              </a:r>
              <a:r>
                <a:rPr lang="en-US" sz="2000" b="1" dirty="0" err="1"/>
                <a:t>Durai</a:t>
              </a:r>
              <a:r>
                <a:rPr lang="en-US" sz="2000" b="1" dirty="0"/>
                <a:t> Murugan</a:t>
              </a:r>
            </a:p>
            <a:p>
              <a:r>
                <a:rPr lang="en-US" sz="2000" b="1" dirty="0"/>
                <a:t>Designation and Department: Ass</a:t>
              </a:r>
              <a:r>
                <a:rPr lang="en-IN" sz="2000" b="1" dirty="0" err="1"/>
                <a:t>ociate</a:t>
              </a:r>
              <a:r>
                <a:rPr lang="en-US" sz="2000" b="1" dirty="0"/>
                <a:t> Professor, Department of Computer Science and Engineering</a:t>
              </a:r>
            </a:p>
          </p:txBody>
        </p:sp>
        <p:grpSp>
          <p:nvGrpSpPr>
            <p:cNvPr id="43" name="Group 42"/>
            <p:cNvGrpSpPr/>
            <p:nvPr/>
          </p:nvGrpSpPr>
          <p:grpSpPr>
            <a:xfrm>
              <a:off x="-14748" y="986564"/>
              <a:ext cx="9158748" cy="3699662"/>
              <a:chOff x="-14748" y="986564"/>
              <a:chExt cx="9158748" cy="3699662"/>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2585323"/>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Hobby Engagement 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fontScale="92500" lnSpcReduction="10000"/>
          </a:bodyPr>
          <a:lstStyle/>
          <a:p>
            <a:r>
              <a:rPr lang="en-US" dirty="0"/>
              <a:t>The proposed project leverages UiPath's automation capabilities to create a personalized content delivery system tailored to user hobbies, specifically focusing on Reddit as the primary data source. This innovative solution automates the extraction of hobby-related information from Reddit and delivers it to users via email. By utilizing UiPath activities such as Data Scraping, For Each Row in Data Table, and Send SMTP Mail Message, the workflow processes user data efficiently, ensuring a seamless experience. The project begins by reading user information from an Excel file, including their hobbies and email addresses. For each user, the workflow dynamically searches Reddit for relevant discussions and extracts key insights related to their hobbies. The extracted data is formatted into a structured and personalized email, making it both informative and engaging. While the current implementation focuses solely on Reddit, the solution is designed with scalability in mind. .</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lstStyle/>
          <a:p>
            <a:r>
              <a:rPr lang="en-US" dirty="0"/>
              <a:t>In the age of digital transformation, automation is playing a pivotal role in reshaping how individuals and businesses interact with information. </a:t>
            </a:r>
          </a:p>
          <a:p>
            <a:r>
              <a:rPr lang="en-US" dirty="0"/>
              <a:t>One area where automation can be particularly impactful is in personalized content aggregation. People often spend hours searching for relevant information online about their hobbies, interests, or passions.</a:t>
            </a:r>
          </a:p>
          <a:p>
            <a:r>
              <a:rPr lang="en-US" dirty="0"/>
              <a:t> This project aims to address this challenge by leveraging UiPath’s capabilities to develop a solution that automates the discovery and delivery of hobby-specific content, focusing on Reddit as the initial data source.</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fontScale="92500"/>
          </a:bodyPr>
          <a:lstStyle/>
          <a:p>
            <a:r>
              <a:rPr lang="en-US" dirty="0"/>
              <a:t>The proposed system introduces an automated solution using UiPath to streamline content aggregation and delivery for hobby enthusiasts. </a:t>
            </a:r>
          </a:p>
          <a:p>
            <a:r>
              <a:rPr lang="en-US" dirty="0"/>
              <a:t>By leveraging Reddit as the primary platform, the bot dynamically processes user inputs, such as hobbies, from an Excel sheet and scrapes relevant data from corresponding Reddit threads. </a:t>
            </a:r>
          </a:p>
          <a:p>
            <a:r>
              <a:rPr lang="en-US" dirty="0"/>
              <a:t>This includes trending posts, discussions, or updates tailored to each user's interests. The scraped data is formatted into a concise, user-friendly summary and sent via email. </a:t>
            </a:r>
          </a:p>
          <a:p>
            <a:r>
              <a:rPr lang="en-US" dirty="0"/>
              <a:t>Additionally, the proposed system lays the foundation for future enhancements, such as integrating more platforms like Amazon or dedicated forums, incorporating sentiment analysis to prioritize impactful content, and expanding notification channels beyond email. </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lstStyle/>
          <a:p>
            <a:r>
              <a:rPr lang="en-US" dirty="0"/>
              <a:t>RPA has emerged as a transformative technology for automating repetitive tasks, including data collection, extraction, and processing. Studies by </a:t>
            </a:r>
            <a:r>
              <a:rPr lang="en-US" b="1" dirty="0"/>
              <a:t>Willcocks et al. (2015) </a:t>
            </a:r>
            <a:r>
              <a:rPr lang="en-US" dirty="0"/>
              <a:t>highlight RPA's ability to emulate human interactions with digital systems, thereby increasing efficiency and reducing errors in data-driven workflows.</a:t>
            </a:r>
          </a:p>
          <a:p>
            <a:r>
              <a:rPr lang="en-US" dirty="0"/>
              <a:t>Web scraping is a widely used technique to extract structured information from unstructured web data. Research by </a:t>
            </a:r>
            <a:r>
              <a:rPr lang="en-US" b="1" dirty="0" err="1"/>
              <a:t>Aghajarian</a:t>
            </a:r>
            <a:r>
              <a:rPr lang="en-US" b="1" dirty="0"/>
              <a:t> et al. (2018) </a:t>
            </a:r>
            <a:r>
              <a:rPr lang="en-US" dirty="0"/>
              <a:t>emphasizes its utility in aggregating content from forums, e-commerce platforms, and social media sites. </a:t>
            </a:r>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r>
              <a:rPr lang="en-US" dirty="0"/>
              <a:t>The primary objective of this project is to develop an automated solution using UiPath that simplifies personalized hobby related content aggregation for users. By leveraging Reddit as the primary data source, the project aims to extract relevant hobby-specific information and deliver it directly to users via email. The workflow is designed to dynamically process user inputs, such as hobbies, and scrape data from corresponding Reddit threads, ensuring personalized and meaningful results. This project emphasizes the practical application of RPA concepts like data scraping, control flow, and email automation, while laying the foundation for future scalability to integrate multiple platforms.</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sp>
        <p:nvSpPr>
          <p:cNvPr id="3" name="Content Placeholder 2"/>
          <p:cNvSpPr>
            <a:spLocks noGrp="1"/>
          </p:cNvSpPr>
          <p:nvPr>
            <p:ph idx="1"/>
          </p:nvPr>
        </p:nvSpPr>
        <p:spPr/>
        <p:txBody>
          <a:bodyPr/>
          <a:lstStyle/>
          <a:p>
            <a:r>
              <a:rPr lang="en-US" dirty="0"/>
              <a:t>Architecture Diagram of the system</a:t>
            </a:r>
          </a:p>
          <a:p>
            <a:pPr marL="0" indent="0">
              <a:buNone/>
            </a:pPr>
            <a:endParaRPr lang="en-US" dirty="0"/>
          </a:p>
        </p:txBody>
      </p:sp>
      <p:pic>
        <p:nvPicPr>
          <p:cNvPr id="5" name="Picture 4">
            <a:extLst>
              <a:ext uri="{FF2B5EF4-FFF2-40B4-BE49-F238E27FC236}">
                <a16:creationId xmlns:a16="http://schemas.microsoft.com/office/drawing/2014/main" id="{478D7C17-7A74-8152-F976-A96270B16E85}"/>
              </a:ext>
            </a:extLst>
          </p:cNvPr>
          <p:cNvPicPr>
            <a:picLocks noChangeAspect="1"/>
          </p:cNvPicPr>
          <p:nvPr/>
        </p:nvPicPr>
        <p:blipFill>
          <a:blip r:embed="rId4"/>
          <a:stretch>
            <a:fillRect/>
          </a:stretch>
        </p:blipFill>
        <p:spPr>
          <a:xfrm>
            <a:off x="1614075" y="1624625"/>
            <a:ext cx="5226178" cy="4157378"/>
          </a:xfrm>
          <a:prstGeom prst="rect">
            <a:avLst/>
          </a:prstGeo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mj-lt"/>
              </a:rPr>
              <a:t>System Flow Diagram: </a:t>
            </a:r>
            <a:r>
              <a:rPr lang="en-IN" dirty="0" err="1">
                <a:latin typeface="+mj-lt"/>
              </a:rPr>
              <a:t>FlowChart</a:t>
            </a:r>
            <a:endParaRPr lang="en-IN" dirty="0">
              <a:latin typeface="+mj-lt"/>
            </a:endParaRPr>
          </a:p>
        </p:txBody>
      </p:sp>
      <p:pic>
        <p:nvPicPr>
          <p:cNvPr id="5" name="Content Placeholder 4">
            <a:extLst>
              <a:ext uri="{FF2B5EF4-FFF2-40B4-BE49-F238E27FC236}">
                <a16:creationId xmlns:a16="http://schemas.microsoft.com/office/drawing/2014/main" id="{499B2F0D-E391-C162-24A6-DC02537164DF}"/>
              </a:ext>
            </a:extLst>
          </p:cNvPr>
          <p:cNvPicPr>
            <a:picLocks noGrp="1" noChangeAspect="1"/>
          </p:cNvPicPr>
          <p:nvPr>
            <p:ph idx="1"/>
          </p:nvPr>
        </p:nvPicPr>
        <p:blipFill>
          <a:blip r:embed="rId4"/>
          <a:stretch>
            <a:fillRect/>
          </a:stretch>
        </p:blipFill>
        <p:spPr>
          <a:xfrm>
            <a:off x="2193088" y="990600"/>
            <a:ext cx="4757823" cy="5334000"/>
          </a:xfrm>
        </p:spPr>
      </p:pic>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Flow Diagram – Sequence Diagram</a:t>
            </a:r>
            <a:endParaRPr lang="en-IN" dirty="0">
              <a:latin typeface="+mj-lt"/>
            </a:endParaRPr>
          </a:p>
        </p:txBody>
      </p:sp>
      <p:pic>
        <p:nvPicPr>
          <p:cNvPr id="5" name="Content Placeholder 4">
            <a:extLst>
              <a:ext uri="{FF2B5EF4-FFF2-40B4-BE49-F238E27FC236}">
                <a16:creationId xmlns:a16="http://schemas.microsoft.com/office/drawing/2014/main" id="{8A3D074A-A32E-4B9A-77AA-B51A4D82E97F}"/>
              </a:ext>
            </a:extLst>
          </p:cNvPr>
          <p:cNvPicPr>
            <a:picLocks noGrp="1" noChangeAspect="1"/>
          </p:cNvPicPr>
          <p:nvPr>
            <p:ph idx="1"/>
          </p:nvPr>
        </p:nvPicPr>
        <p:blipFill>
          <a:blip r:embed="rId4"/>
          <a:stretch>
            <a:fillRect/>
          </a:stretch>
        </p:blipFill>
        <p:spPr>
          <a:xfrm>
            <a:off x="1242548" y="1268760"/>
            <a:ext cx="6658904" cy="4601217"/>
          </a:xfrm>
        </p:spPr>
      </p:pic>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pic>
        <p:nvPicPr>
          <p:cNvPr id="5" name="Content Placeholder 4">
            <a:extLst>
              <a:ext uri="{FF2B5EF4-FFF2-40B4-BE49-F238E27FC236}">
                <a16:creationId xmlns:a16="http://schemas.microsoft.com/office/drawing/2014/main" id="{EB3B15AF-9FEA-4611-C9B3-146D05690DEE}"/>
              </a:ext>
            </a:extLst>
          </p:cNvPr>
          <p:cNvPicPr>
            <a:picLocks noGrp="1" noChangeAspect="1"/>
          </p:cNvPicPr>
          <p:nvPr>
            <p:ph idx="1"/>
          </p:nvPr>
        </p:nvPicPr>
        <p:blipFill>
          <a:blip r:embed="rId4"/>
          <a:stretch>
            <a:fillRect/>
          </a:stretch>
        </p:blipFill>
        <p:spPr>
          <a:xfrm>
            <a:off x="2707347" y="990600"/>
            <a:ext cx="3729306" cy="5334000"/>
          </a:xfr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8710A-8710-F5AC-BD91-5B71B6B51D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D2874-A091-8FA7-0419-43BA700FF808}"/>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10" name="Content Placeholder 9">
            <a:extLst>
              <a:ext uri="{FF2B5EF4-FFF2-40B4-BE49-F238E27FC236}">
                <a16:creationId xmlns:a16="http://schemas.microsoft.com/office/drawing/2014/main" id="{D3B0B896-F1C7-5F3F-517F-6B26FC73BC91}"/>
              </a:ext>
            </a:extLst>
          </p:cNvPr>
          <p:cNvPicPr>
            <a:picLocks noGrp="1" noChangeAspect="1"/>
          </p:cNvPicPr>
          <p:nvPr>
            <p:ph idx="1"/>
          </p:nvPr>
        </p:nvPicPr>
        <p:blipFill>
          <a:blip r:embed="rId4"/>
          <a:stretch>
            <a:fillRect/>
          </a:stretch>
        </p:blipFill>
        <p:spPr>
          <a:xfrm>
            <a:off x="4932040" y="1032154"/>
            <a:ext cx="3204356" cy="5218524"/>
          </a:xfrm>
        </p:spPr>
      </p:pic>
      <p:pic>
        <p:nvPicPr>
          <p:cNvPr id="7" name="Picture 6">
            <a:extLst>
              <a:ext uri="{FF2B5EF4-FFF2-40B4-BE49-F238E27FC236}">
                <a16:creationId xmlns:a16="http://schemas.microsoft.com/office/drawing/2014/main" id="{FC9B13B3-3641-3D8B-653D-41C3362FE302}"/>
              </a:ext>
            </a:extLst>
          </p:cNvPr>
          <p:cNvPicPr>
            <a:picLocks noChangeAspect="1"/>
          </p:cNvPicPr>
          <p:nvPr/>
        </p:nvPicPr>
        <p:blipFill>
          <a:blip r:embed="rId5"/>
          <a:stretch>
            <a:fillRect/>
          </a:stretch>
        </p:blipFill>
        <p:spPr>
          <a:xfrm>
            <a:off x="287524" y="1088740"/>
            <a:ext cx="3420380" cy="4989877"/>
          </a:xfrm>
          <a:prstGeom prst="rect">
            <a:avLst/>
          </a:prstGeom>
        </p:spPr>
      </p:pic>
    </p:spTree>
    <p:custDataLst>
      <p:tags r:id="rId1"/>
    </p:custDataLst>
    <p:extLst>
      <p:ext uri="{BB962C8B-B14F-4D97-AF65-F5344CB8AC3E}">
        <p14:creationId xmlns:p14="http://schemas.microsoft.com/office/powerpoint/2010/main" val="1308044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EA37A-3DF4-B5C5-8E9B-A3C8A24AA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EB9F5-A3AA-7825-282C-38331D67A8FA}"/>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9" name="Content Placeholder 8">
            <a:extLst>
              <a:ext uri="{FF2B5EF4-FFF2-40B4-BE49-F238E27FC236}">
                <a16:creationId xmlns:a16="http://schemas.microsoft.com/office/drawing/2014/main" id="{858C7FE2-7E78-843B-9108-9E7F3F2504C9}"/>
              </a:ext>
            </a:extLst>
          </p:cNvPr>
          <p:cNvPicPr>
            <a:picLocks noGrp="1" noChangeAspect="1"/>
          </p:cNvPicPr>
          <p:nvPr>
            <p:ph idx="1"/>
          </p:nvPr>
        </p:nvPicPr>
        <p:blipFill>
          <a:blip r:embed="rId4"/>
          <a:stretch>
            <a:fillRect/>
          </a:stretch>
        </p:blipFill>
        <p:spPr>
          <a:xfrm>
            <a:off x="359532" y="914400"/>
            <a:ext cx="3485137" cy="5334000"/>
          </a:xfrm>
        </p:spPr>
      </p:pic>
      <p:pic>
        <p:nvPicPr>
          <p:cNvPr id="11" name="Picture 10">
            <a:extLst>
              <a:ext uri="{FF2B5EF4-FFF2-40B4-BE49-F238E27FC236}">
                <a16:creationId xmlns:a16="http://schemas.microsoft.com/office/drawing/2014/main" id="{F79FC30D-F762-27F6-7F27-68D7D006E0EC}"/>
              </a:ext>
            </a:extLst>
          </p:cNvPr>
          <p:cNvPicPr>
            <a:picLocks noChangeAspect="1"/>
          </p:cNvPicPr>
          <p:nvPr/>
        </p:nvPicPr>
        <p:blipFill>
          <a:blip r:embed="rId5"/>
          <a:stretch>
            <a:fillRect/>
          </a:stretch>
        </p:blipFill>
        <p:spPr>
          <a:xfrm>
            <a:off x="4644008" y="762000"/>
            <a:ext cx="3659823" cy="5486400"/>
          </a:xfrm>
          <a:prstGeom prst="rect">
            <a:avLst/>
          </a:prstGeom>
        </p:spPr>
      </p:pic>
    </p:spTree>
    <p:custDataLst>
      <p:tags r:id="rId1"/>
    </p:custDataLst>
    <p:extLst>
      <p:ext uri="{BB962C8B-B14F-4D97-AF65-F5344CB8AC3E}">
        <p14:creationId xmlns:p14="http://schemas.microsoft.com/office/powerpoint/2010/main" val="313713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Sample Output:</a:t>
            </a:r>
            <a:endParaRPr lang="en-IN" dirty="0">
              <a:latin typeface="+mj-lt"/>
            </a:endParaRPr>
          </a:p>
        </p:txBody>
      </p:sp>
      <p:sp>
        <p:nvSpPr>
          <p:cNvPr id="3" name="Content Placeholder 2"/>
          <p:cNvSpPr>
            <a:spLocks noGrp="1"/>
          </p:cNvSpPr>
          <p:nvPr>
            <p:ph idx="1"/>
          </p:nvPr>
        </p:nvSpPr>
        <p:spPr/>
        <p:txBody>
          <a:bodyPr/>
          <a:lstStyle/>
          <a:p>
            <a:pPr marL="0" indent="0">
              <a:buNone/>
            </a:pPr>
            <a:endParaRPr lang="en-US" dirty="0"/>
          </a:p>
          <a:p>
            <a:endParaRPr lang="en-US" dirty="0"/>
          </a:p>
        </p:txBody>
      </p:sp>
      <p:pic>
        <p:nvPicPr>
          <p:cNvPr id="5" name="Picture 4">
            <a:extLst>
              <a:ext uri="{FF2B5EF4-FFF2-40B4-BE49-F238E27FC236}">
                <a16:creationId xmlns:a16="http://schemas.microsoft.com/office/drawing/2014/main" id="{54AE7D8A-CC5D-EE6C-89DB-539DA734BC00}"/>
              </a:ext>
            </a:extLst>
          </p:cNvPr>
          <p:cNvPicPr>
            <a:picLocks noChangeAspect="1"/>
          </p:cNvPicPr>
          <p:nvPr/>
        </p:nvPicPr>
        <p:blipFill>
          <a:blip r:embed="rId4"/>
          <a:stretch>
            <a:fillRect/>
          </a:stretch>
        </p:blipFill>
        <p:spPr>
          <a:xfrm>
            <a:off x="175186" y="1664804"/>
            <a:ext cx="8757932" cy="3766432"/>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r>
              <a:rPr lang="en-US" dirty="0"/>
              <a:t>The Automated Hobby-Based Reddit Data Aggregator exemplifies the transformative potential of Robotic Process Automation (RPA) in simplifying complex workflows and providing personalized user experiences. By leveraging UiPath’s robust capabilities, this project streamlines the process of hobby-specific data collection and aggregation, addressing the growing need for customized insights in a digital age.</a:t>
            </a:r>
          </a:p>
          <a:p>
            <a:r>
              <a:rPr lang="en-US" dirty="0"/>
              <a:t>This system efficiently reads user data, including hobbies and links, from an Excel file and processes it to fetch relevant content from Reddit. By automating the data extraction, aggregation, and communication steps, the project not only reduces manual effort but also ensures a consistent and error-free workflow.</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r>
              <a:rPr lang="en-US" dirty="0"/>
              <a:t>The project paves the way for future enhancements, such as integrating multiple platforms and utilizing techniques for content summarization. By addressing the identified challenges and leveraging advancements in RPA and personalization technologies, this project demonstrates the potential of automation in delivering value to end-users.</a:t>
            </a:r>
          </a:p>
          <a:p>
            <a:r>
              <a:rPr lang="en-US" dirty="0"/>
              <a:t>Looking ahead, the system could be extended to include multi-lingual support and sentiment analysis for a broader scope of user engagement. These advancements would enable the system to cater to global audiences and extract insights with deeper contextual relevance.</a:t>
            </a:r>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pPr marL="0" indent="0">
              <a:buNone/>
            </a:pPr>
            <a:r>
              <a:rPr lang="en-US" b="1" dirty="0"/>
              <a:t>UiPath Documentation: Email Activities Guide </a:t>
            </a:r>
          </a:p>
          <a:p>
            <a:pPr marL="0" indent="0">
              <a:buNone/>
            </a:pPr>
            <a:r>
              <a:rPr lang="en-US" dirty="0"/>
              <a:t>                  ○ This documentation offered detailed instructions on configuring and using UiPath’s email activities, such as fetching emails via IMAP and dispatching them via SMTP. </a:t>
            </a:r>
          </a:p>
          <a:p>
            <a:pPr marL="0" indent="0">
              <a:buNone/>
            </a:pPr>
            <a:r>
              <a:rPr lang="en-US" b="1" dirty="0"/>
              <a:t>OpenAI API Documentation: ChatGPT API Usage and Features </a:t>
            </a:r>
          </a:p>
          <a:p>
            <a:pPr marL="0" indent="0">
              <a:buNone/>
            </a:pPr>
            <a:r>
              <a:rPr lang="en-US" dirty="0"/>
              <a:t>                   ○ The OpenAI API documentation served as a key reference for understanding the capabilities of the GPT models, including text generation, response customization, and handling API requests.</a:t>
            </a: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9190</TotalTime>
  <Words>947</Words>
  <Application>Microsoft Office PowerPoint</Application>
  <PresentationFormat>On-screen Show (4:3)</PresentationFormat>
  <Paragraphs>59</Paragraphs>
  <Slides>17</Slides>
  <Notes>16</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Flow Diagram: FlowChart</vt:lpstr>
      <vt:lpstr>Data Flow Diagram – Sequence Diagram</vt:lpstr>
      <vt:lpstr>Implementation</vt:lpstr>
      <vt:lpstr>Implementation</vt:lpstr>
      <vt:lpstr>Implementation</vt:lpstr>
      <vt:lpstr>Sample Output:</vt:lpstr>
      <vt:lpstr>Conclusions</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RUPALA N</cp:lastModifiedBy>
  <cp:revision>1744</cp:revision>
  <dcterms:created xsi:type="dcterms:W3CDTF">2013-05-17T03:00:03Z</dcterms:created>
  <dcterms:modified xsi:type="dcterms:W3CDTF">2024-11-22T02:30:31Z</dcterms:modified>
</cp:coreProperties>
</file>